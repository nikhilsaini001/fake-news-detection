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1" d="100"/>
          <a:sy n="71" d="100"/>
        </p:scale>
        <p:origin x="1032"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8" name="PlaceHolder 2"/>
          <p:cNvSpPr>
            <a:spLocks noGrp="1"/>
          </p:cNvSpPr>
          <p:nvPr>
            <p:ph type="body"/>
          </p:nvPr>
        </p:nvSpPr>
        <p:spPr>
          <a:xfrm>
            <a:off x="838080" y="1825560"/>
            <a:ext cx="1051524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0"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1"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5"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6" name="PlaceHolder 3"/>
          <p:cNvSpPr>
            <a:spLocks noGrp="1"/>
          </p:cNvSpPr>
          <p:nvPr>
            <p:ph type="body"/>
          </p:nvPr>
        </p:nvSpPr>
        <p:spPr>
          <a:xfrm>
            <a:off x="622620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17"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19" name="PlaceHolder 2"/>
          <p:cNvSpPr>
            <a:spLocks noGrp="1"/>
          </p:cNvSpPr>
          <p:nvPr>
            <p:ph type="body"/>
          </p:nvPr>
        </p:nvSpPr>
        <p:spPr>
          <a:xfrm>
            <a:off x="838080" y="1825560"/>
            <a:ext cx="5131080" cy="435096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0"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1" name="PlaceHolder 4"/>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3"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4"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5" name="PlaceHolder 4"/>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27" name="PlaceHolder 2"/>
          <p:cNvSpPr>
            <a:spLocks noGrp="1"/>
          </p:cNvSpPr>
          <p:nvPr>
            <p:ph type="body"/>
          </p:nvPr>
        </p:nvSpPr>
        <p:spPr>
          <a:xfrm>
            <a:off x="838080" y="182556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28" name="PlaceHolder 3"/>
          <p:cNvSpPr>
            <a:spLocks noGrp="1"/>
          </p:cNvSpPr>
          <p:nvPr>
            <p:ph type="body"/>
          </p:nvPr>
        </p:nvSpPr>
        <p:spPr>
          <a:xfrm>
            <a:off x="838080" y="4098240"/>
            <a:ext cx="1051524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0" name="PlaceHolder 2"/>
          <p:cNvSpPr>
            <a:spLocks noGrp="1"/>
          </p:cNvSpPr>
          <p:nvPr>
            <p:ph type="body"/>
          </p:nvPr>
        </p:nvSpPr>
        <p:spPr>
          <a:xfrm>
            <a:off x="83808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1" name="PlaceHolder 3"/>
          <p:cNvSpPr>
            <a:spLocks noGrp="1"/>
          </p:cNvSpPr>
          <p:nvPr>
            <p:ph type="body"/>
          </p:nvPr>
        </p:nvSpPr>
        <p:spPr>
          <a:xfrm>
            <a:off x="6226200" y="182556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2" name="PlaceHolder 4"/>
          <p:cNvSpPr>
            <a:spLocks noGrp="1"/>
          </p:cNvSpPr>
          <p:nvPr>
            <p:ph type="body"/>
          </p:nvPr>
        </p:nvSpPr>
        <p:spPr>
          <a:xfrm>
            <a:off x="83808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3" name="PlaceHolder 5"/>
          <p:cNvSpPr>
            <a:spLocks noGrp="1"/>
          </p:cNvSpPr>
          <p:nvPr>
            <p:ph type="body"/>
          </p:nvPr>
        </p:nvSpPr>
        <p:spPr>
          <a:xfrm>
            <a:off x="6226200" y="4098240"/>
            <a:ext cx="513108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p:spPr>
        <p:txBody>
          <a:bodyPr lIns="0" tIns="0" rIns="0" bIns="0" anchor="ctr">
            <a:noAutofit/>
          </a:bodyPr>
          <a:lstStyle/>
          <a:p>
            <a:endParaRPr lang="en-US" sz="1800" b="0" strike="noStrike" spc="-1">
              <a:solidFill>
                <a:srgbClr val="000000"/>
              </a:solidFill>
              <a:latin typeface="Calibri"/>
            </a:endParaRPr>
          </a:p>
        </p:txBody>
      </p:sp>
      <p:sp>
        <p:nvSpPr>
          <p:cNvPr id="35" name="PlaceHolder 2"/>
          <p:cNvSpPr>
            <a:spLocks noGrp="1"/>
          </p:cNvSpPr>
          <p:nvPr>
            <p:ph type="body"/>
          </p:nvPr>
        </p:nvSpPr>
        <p:spPr>
          <a:xfrm>
            <a:off x="83808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6" name="PlaceHolder 3"/>
          <p:cNvSpPr>
            <a:spLocks noGrp="1"/>
          </p:cNvSpPr>
          <p:nvPr>
            <p:ph type="body"/>
          </p:nvPr>
        </p:nvSpPr>
        <p:spPr>
          <a:xfrm>
            <a:off x="439344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7" name="PlaceHolder 4"/>
          <p:cNvSpPr>
            <a:spLocks noGrp="1"/>
          </p:cNvSpPr>
          <p:nvPr>
            <p:ph type="body"/>
          </p:nvPr>
        </p:nvSpPr>
        <p:spPr>
          <a:xfrm>
            <a:off x="7949160" y="182556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8" name="PlaceHolder 5"/>
          <p:cNvSpPr>
            <a:spLocks noGrp="1"/>
          </p:cNvSpPr>
          <p:nvPr>
            <p:ph type="body"/>
          </p:nvPr>
        </p:nvSpPr>
        <p:spPr>
          <a:xfrm>
            <a:off x="83808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39" name="PlaceHolder 6"/>
          <p:cNvSpPr>
            <a:spLocks noGrp="1"/>
          </p:cNvSpPr>
          <p:nvPr>
            <p:ph type="body"/>
          </p:nvPr>
        </p:nvSpPr>
        <p:spPr>
          <a:xfrm>
            <a:off x="439344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
        <p:nvSpPr>
          <p:cNvPr id="40" name="PlaceHolder 7"/>
          <p:cNvSpPr>
            <a:spLocks noGrp="1"/>
          </p:cNvSpPr>
          <p:nvPr>
            <p:ph type="body"/>
          </p:nvPr>
        </p:nvSpPr>
        <p:spPr>
          <a:xfrm>
            <a:off x="7949160" y="4098240"/>
            <a:ext cx="3385800" cy="2075040"/>
          </a:xfrm>
          <a:prstGeom prst="rect">
            <a:avLst/>
          </a:prstGeom>
        </p:spPr>
        <p:txBody>
          <a:bodyPr lIns="0" tIns="0" rIns="0" bIns="0">
            <a:normAutofit/>
          </a:bodyPr>
          <a:lstStyle/>
          <a:p>
            <a:endParaRPr lang="en-US" sz="28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p:spPr>
        <p:txBody>
          <a:bodyPr anchor="ctr">
            <a:noAutofit/>
          </a:bodyPr>
          <a:lstStyle/>
          <a:p>
            <a:pPr>
              <a:lnSpc>
                <a:spcPct val="90000"/>
              </a:lnSpc>
            </a:pPr>
            <a:r>
              <a:rPr lang="en-US" sz="4400" b="0" strike="noStrike" spc="-1">
                <a:solidFill>
                  <a:srgbClr val="000000"/>
                </a:solidFill>
                <a:latin typeface="Calibri Light"/>
              </a:rPr>
              <a:t>Click to edit Master title style</a:t>
            </a:r>
            <a:endParaRPr lang="en-US" sz="4400" b="0" strike="noStrike" spc="-1">
              <a:solidFill>
                <a:srgbClr val="000000"/>
              </a:solidFill>
              <a:latin typeface="Calibri"/>
            </a:endParaRPr>
          </a:p>
        </p:txBody>
      </p:sp>
      <p:sp>
        <p:nvSpPr>
          <p:cNvPr id="6" name="PlaceHolder 2"/>
          <p:cNvSpPr>
            <a:spLocks noGrp="1"/>
          </p:cNvSpPr>
          <p:nvPr>
            <p:ph type="body"/>
          </p:nvPr>
        </p:nvSpPr>
        <p:spPr>
          <a:xfrm>
            <a:off x="838080" y="1825560"/>
            <a:ext cx="10515240" cy="4350960"/>
          </a:xfrm>
          <a:prstGeom prst="rect">
            <a:avLst/>
          </a:prstGeom>
        </p:spPr>
        <p:txBody>
          <a:bodyPr>
            <a:no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Calibri"/>
              </a:rPr>
              <a:t>Click to edit Master text styles</a:t>
            </a:r>
          </a:p>
          <a:p>
            <a:pPr marL="685800" lvl="1" indent="-228240">
              <a:lnSpc>
                <a:spcPct val="90000"/>
              </a:lnSpc>
              <a:spcBef>
                <a:spcPts val="499"/>
              </a:spcBef>
              <a:buClr>
                <a:srgbClr val="000000"/>
              </a:buClr>
              <a:buFont typeface="Arial"/>
              <a:buChar char="•"/>
            </a:pPr>
            <a:r>
              <a:rPr lang="en-US" sz="2400" b="0" strike="noStrike" spc="-1">
                <a:solidFill>
                  <a:srgbClr val="000000"/>
                </a:solidFill>
                <a:latin typeface="Calibri"/>
              </a:rPr>
              <a:t>Second level</a:t>
            </a:r>
          </a:p>
          <a:p>
            <a:pPr marL="1143000" lvl="2" indent="-228240">
              <a:lnSpc>
                <a:spcPct val="90000"/>
              </a:lnSpc>
              <a:spcBef>
                <a:spcPts val="499"/>
              </a:spcBef>
              <a:buClr>
                <a:srgbClr val="000000"/>
              </a:buClr>
              <a:buFont typeface="Arial"/>
              <a:buChar char="•"/>
            </a:pPr>
            <a:r>
              <a:rPr lang="en-US" sz="2000" b="0" strike="noStrike" spc="-1">
                <a:solidFill>
                  <a:srgbClr val="000000"/>
                </a:solidFill>
                <a:latin typeface="Calibri"/>
              </a:rPr>
              <a:t>Third level</a:t>
            </a:r>
          </a:p>
          <a:p>
            <a:pPr marL="1600200" lvl="3" indent="-228240">
              <a:lnSpc>
                <a:spcPct val="90000"/>
              </a:lnSpc>
              <a:spcBef>
                <a:spcPts val="499"/>
              </a:spcBef>
              <a:buClr>
                <a:srgbClr val="000000"/>
              </a:buClr>
              <a:buFont typeface="Arial"/>
              <a:buChar char="•"/>
            </a:pPr>
            <a:r>
              <a:rPr lang="en-US" sz="1800" b="0" strike="noStrike" spc="-1">
                <a:solidFill>
                  <a:srgbClr val="000000"/>
                </a:solidFill>
                <a:latin typeface="Calibri"/>
              </a:rPr>
              <a:t>Fourth level</a:t>
            </a:r>
          </a:p>
          <a:p>
            <a:pPr marL="2057400" lvl="4" indent="-228240">
              <a:lnSpc>
                <a:spcPct val="90000"/>
              </a:lnSpc>
              <a:spcBef>
                <a:spcPts val="499"/>
              </a:spcBef>
              <a:buClr>
                <a:srgbClr val="000000"/>
              </a:buClr>
              <a:buFont typeface="Arial"/>
              <a:buChar char="•"/>
            </a:pPr>
            <a:r>
              <a:rPr lang="en-US" sz="1800" b="0" strike="noStrike" spc="-1">
                <a:solidFill>
                  <a:srgbClr val="000000"/>
                </a:solidFill>
                <a:latin typeface="Calibri"/>
              </a:rPr>
              <a:t>Fifth level</a:t>
            </a:r>
          </a:p>
        </p:txBody>
      </p:sp>
      <p:sp>
        <p:nvSpPr>
          <p:cNvPr id="2" name="PlaceHolder 3"/>
          <p:cNvSpPr>
            <a:spLocks noGrp="1"/>
          </p:cNvSpPr>
          <p:nvPr>
            <p:ph type="dt"/>
          </p:nvPr>
        </p:nvSpPr>
        <p:spPr>
          <a:xfrm>
            <a:off x="838080" y="6356520"/>
            <a:ext cx="2742840" cy="36468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ftr"/>
          </p:nvPr>
        </p:nvSpPr>
        <p:spPr>
          <a:xfrm>
            <a:off x="4038480" y="6356520"/>
            <a:ext cx="4114440" cy="364680"/>
          </a:xfrm>
          <a:prstGeom prst="rect">
            <a:avLst/>
          </a:prstGeom>
        </p:spPr>
        <p:txBody>
          <a:bodyPr anchor="ctr">
            <a:noAutofit/>
          </a:bodyPr>
          <a:lstStyle/>
          <a:p>
            <a:endParaRPr lang="en-US" sz="2400" b="0" strike="noStrike" spc="-1">
              <a:latin typeface="Times New Roman"/>
            </a:endParaRPr>
          </a:p>
        </p:txBody>
      </p:sp>
      <p:sp>
        <p:nvSpPr>
          <p:cNvPr id="4" name="PlaceHolder 5"/>
          <p:cNvSpPr>
            <a:spLocks noGrp="1"/>
          </p:cNvSpPr>
          <p:nvPr>
            <p:ph type="sldNum"/>
          </p:nvPr>
        </p:nvSpPr>
        <p:spPr>
          <a:xfrm>
            <a:off x="8610480" y="6356520"/>
            <a:ext cx="2742840" cy="364680"/>
          </a:xfrm>
          <a:prstGeom prst="rect">
            <a:avLst/>
          </a:prstGeom>
        </p:spPr>
        <p:txBody>
          <a:bodyPr anchor="ctr">
            <a:noAutofit/>
          </a:bodyPr>
          <a:lstStyle/>
          <a:p>
            <a:pPr algn="r">
              <a:lnSpc>
                <a:spcPct val="100000"/>
              </a:lnSpc>
            </a:pPr>
            <a:fld id="{783F756F-0BB5-4007-AE3F-E7B2C23EA308}" type="slidenum">
              <a:rPr lang="en-US" sz="1200" b="0" strike="noStrike" spc="-1">
                <a:solidFill>
                  <a:srgbClr val="8B8B8B"/>
                </a:solidFill>
                <a:latin typeface="Calibri"/>
              </a:rPr>
              <a:t>‹#›</a:t>
            </a:fld>
            <a:endParaRPr lang="en-US"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CustomShape 1"/>
          <p:cNvSpPr/>
          <p:nvPr/>
        </p:nvSpPr>
        <p:spPr>
          <a:xfrm>
            <a:off x="-4320" y="6053760"/>
            <a:ext cx="12196080" cy="4388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ID"/>
          </a:p>
        </p:txBody>
      </p:sp>
      <p:sp>
        <p:nvSpPr>
          <p:cNvPr id="42" name="CustomShape 2"/>
          <p:cNvSpPr/>
          <p:nvPr/>
        </p:nvSpPr>
        <p:spPr>
          <a:xfrm>
            <a:off x="302040" y="5901840"/>
            <a:ext cx="45360" cy="61344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p:style>
        <p:txBody>
          <a:bodyPr/>
          <a:lstStyle/>
          <a:p>
            <a:endParaRPr lang="en-ID"/>
          </a:p>
        </p:txBody>
      </p:sp>
      <p:sp>
        <p:nvSpPr>
          <p:cNvPr id="43" name="CustomShape 3"/>
          <p:cNvSpPr/>
          <p:nvPr/>
        </p:nvSpPr>
        <p:spPr>
          <a:xfrm>
            <a:off x="8763120" y="6508800"/>
            <a:ext cx="2742840" cy="364680"/>
          </a:xfrm>
          <a:prstGeom prst="rect">
            <a:avLst/>
          </a:prstGeom>
          <a:noFill/>
          <a:ln>
            <a:noFill/>
          </a:ln>
        </p:spPr>
        <p:style>
          <a:lnRef idx="0">
            <a:scrgbClr r="0" g="0" b="0"/>
          </a:lnRef>
          <a:fillRef idx="0">
            <a:scrgbClr r="0" g="0" b="0"/>
          </a:fillRef>
          <a:effectRef idx="0">
            <a:scrgbClr r="0" g="0" b="0"/>
          </a:effectRef>
          <a:fontRef idx="minor"/>
        </p:style>
        <p:txBody>
          <a:bodyPr/>
          <a:lstStyle/>
          <a:p>
            <a:endParaRPr lang="en-ID"/>
          </a:p>
        </p:txBody>
      </p:sp>
      <p:sp>
        <p:nvSpPr>
          <p:cNvPr id="44" name="CustomShape 4"/>
          <p:cNvSpPr/>
          <p:nvPr/>
        </p:nvSpPr>
        <p:spPr>
          <a:xfrm flipV="1">
            <a:off x="9506880" y="5939280"/>
            <a:ext cx="1291320" cy="1157400"/>
          </a:xfrm>
          <a:prstGeom prst="rtTriangle">
            <a:avLst/>
          </a:prstGeom>
          <a:solidFill>
            <a:srgbClr val="F2F2F2">
              <a:alpha val="17000"/>
            </a:srgbClr>
          </a:solidFill>
          <a:ln w="12600">
            <a:noFill/>
          </a:ln>
        </p:spPr>
        <p:style>
          <a:lnRef idx="0">
            <a:scrgbClr r="0" g="0" b="0"/>
          </a:lnRef>
          <a:fillRef idx="0">
            <a:scrgbClr r="0" g="0" b="0"/>
          </a:fillRef>
          <a:effectRef idx="0">
            <a:scrgbClr r="0" g="0" b="0"/>
          </a:effectRef>
          <a:fontRef idx="minor"/>
        </p:style>
        <p:txBody>
          <a:bodyPr/>
          <a:lstStyle/>
          <a:p>
            <a:endParaRPr lang="en-ID"/>
          </a:p>
        </p:txBody>
      </p:sp>
      <p:sp>
        <p:nvSpPr>
          <p:cNvPr id="45" name="CustomShape 5"/>
          <p:cNvSpPr/>
          <p:nvPr/>
        </p:nvSpPr>
        <p:spPr>
          <a:xfrm flipH="1">
            <a:off x="7044840" y="-120600"/>
            <a:ext cx="5146200" cy="5852160"/>
          </a:xfrm>
          <a:prstGeom prst="rtTriangle">
            <a:avLst/>
          </a:prstGeom>
          <a:solidFill>
            <a:srgbClr val="F2F2F2">
              <a:alpha val="17000"/>
            </a:srgbClr>
          </a:solidFill>
          <a:ln w="12600">
            <a:noFill/>
          </a:ln>
        </p:spPr>
        <p:style>
          <a:lnRef idx="0">
            <a:scrgbClr r="0" g="0" b="0"/>
          </a:lnRef>
          <a:fillRef idx="0">
            <a:scrgbClr r="0" g="0" b="0"/>
          </a:fillRef>
          <a:effectRef idx="0">
            <a:scrgbClr r="0" g="0" b="0"/>
          </a:effectRef>
          <a:fontRef idx="minor"/>
        </p:style>
        <p:txBody>
          <a:bodyPr/>
          <a:lstStyle/>
          <a:p>
            <a:endParaRPr lang="en-ID"/>
          </a:p>
        </p:txBody>
      </p:sp>
      <p:sp>
        <p:nvSpPr>
          <p:cNvPr id="46" name="CustomShape 6"/>
          <p:cNvSpPr/>
          <p:nvPr/>
        </p:nvSpPr>
        <p:spPr>
          <a:xfrm>
            <a:off x="2698200" y="1476000"/>
            <a:ext cx="6829200" cy="2796840"/>
          </a:xfrm>
          <a:prstGeom prst="rect">
            <a:avLst/>
          </a:prstGeom>
          <a:gradFill rotWithShape="0">
            <a:gsLst>
              <a:gs pos="0">
                <a:srgbClr val="FFFFFF">
                  <a:alpha val="0"/>
                </a:srgbClr>
              </a:gs>
              <a:gs pos="100000">
                <a:srgbClr val="FFFFFF">
                  <a:alpha val="34117"/>
                </a:srgbClr>
              </a:gs>
            </a:gsLst>
            <a:lin ang="0"/>
          </a:gra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50000"/>
              </a:lnSpc>
            </a:pPr>
            <a:r>
              <a:rPr lang="en-US" sz="2400" b="0" i="1" strike="noStrike" spc="-1">
                <a:solidFill>
                  <a:srgbClr val="000000"/>
                </a:solidFill>
                <a:latin typeface="Calibri"/>
              </a:rPr>
              <a:t>Submitted in the partial fulfillment for the award of the degree of</a:t>
            </a:r>
            <a:endParaRPr lang="en-US" sz="2400" b="0" strike="noStrike" spc="-1">
              <a:latin typeface="Arial"/>
            </a:endParaRPr>
          </a:p>
          <a:p>
            <a:pPr algn="ctr">
              <a:lnSpc>
                <a:spcPct val="150000"/>
              </a:lnSpc>
            </a:pPr>
            <a:r>
              <a:rPr lang="en-US" sz="2400" b="1" strike="noStrike" spc="-1">
                <a:solidFill>
                  <a:srgbClr val="000000"/>
                </a:solidFill>
                <a:latin typeface="Calibri"/>
              </a:rPr>
              <a:t>BACHELOR OF ENGINEERING </a:t>
            </a:r>
            <a:endParaRPr lang="en-US" sz="2400" b="0" strike="noStrike" spc="-1">
              <a:latin typeface="Arial"/>
            </a:endParaRPr>
          </a:p>
          <a:p>
            <a:pPr algn="ctr">
              <a:lnSpc>
                <a:spcPct val="150000"/>
              </a:lnSpc>
            </a:pPr>
            <a:r>
              <a:rPr lang="en-US" sz="2400" b="0" i="1" strike="noStrike" spc="-1">
                <a:solidFill>
                  <a:srgbClr val="000000"/>
                </a:solidFill>
                <a:latin typeface="Calibri"/>
              </a:rPr>
              <a:t> IN</a:t>
            </a:r>
            <a:endParaRPr lang="en-US" sz="2400" b="0" strike="noStrike" spc="-1">
              <a:latin typeface="Arial"/>
            </a:endParaRPr>
          </a:p>
          <a:p>
            <a:pPr algn="ctr">
              <a:lnSpc>
                <a:spcPct val="150000"/>
              </a:lnSpc>
            </a:pPr>
            <a:r>
              <a:rPr lang="en-US" sz="2400" b="1" strike="noStrike" spc="-1">
                <a:solidFill>
                  <a:srgbClr val="000000"/>
                </a:solidFill>
                <a:latin typeface="Calibri"/>
              </a:rPr>
              <a:t>FULL STACK DEVELOPMENT  BRANCH </a:t>
            </a:r>
            <a:endParaRPr lang="en-US" sz="2400" b="0" strike="noStrike" spc="-1">
              <a:latin typeface="Arial"/>
            </a:endParaRPr>
          </a:p>
        </p:txBody>
      </p:sp>
      <p:sp>
        <p:nvSpPr>
          <p:cNvPr id="47" name="CustomShape 7"/>
          <p:cNvSpPr/>
          <p:nvPr/>
        </p:nvSpPr>
        <p:spPr>
          <a:xfrm rot="10800000" flipV="1">
            <a:off x="9830160" y="5334480"/>
            <a:ext cx="2366280" cy="1599840"/>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p:style>
        <p:txBody>
          <a:bodyPr/>
          <a:lstStyle/>
          <a:p>
            <a:endParaRPr lang="en-ID"/>
          </a:p>
        </p:txBody>
      </p:sp>
      <p:sp>
        <p:nvSpPr>
          <p:cNvPr id="48" name="CustomShape 8"/>
          <p:cNvSpPr/>
          <p:nvPr/>
        </p:nvSpPr>
        <p:spPr>
          <a:xfrm>
            <a:off x="6881400" y="6019560"/>
            <a:ext cx="4928400" cy="638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2000" b="1" strike="noStrike" spc="-1">
                <a:solidFill>
                  <a:srgbClr val="595959"/>
                </a:solidFill>
                <a:latin typeface="Casper"/>
                <a:ea typeface="Karla"/>
              </a:rPr>
              <a:t>DISCOVER . </a:t>
            </a:r>
            <a:r>
              <a:rPr lang="en-US" sz="2000" b="1" strike="noStrike" spc="-1">
                <a:solidFill>
                  <a:srgbClr val="C00000"/>
                </a:solidFill>
                <a:latin typeface="Casper"/>
                <a:ea typeface="Karla"/>
              </a:rPr>
              <a:t>LEARN</a:t>
            </a:r>
            <a:r>
              <a:rPr lang="en-US" sz="2000" b="1" strike="noStrike" spc="-1">
                <a:solidFill>
                  <a:srgbClr val="595959"/>
                </a:solidFill>
                <a:latin typeface="Casper"/>
                <a:ea typeface="Karla"/>
              </a:rPr>
              <a:t> . EMPOWER</a:t>
            </a:r>
            <a:endParaRPr lang="en-US" sz="2000" b="0" strike="noStrike" spc="-1">
              <a:latin typeface="Arial"/>
            </a:endParaRPr>
          </a:p>
          <a:p>
            <a:pPr>
              <a:lnSpc>
                <a:spcPct val="100000"/>
              </a:lnSpc>
            </a:pPr>
            <a:endParaRPr lang="en-US" sz="2000" b="0" strike="noStrike" spc="-1">
              <a:latin typeface="Arial"/>
            </a:endParaRPr>
          </a:p>
        </p:txBody>
      </p:sp>
      <p:sp>
        <p:nvSpPr>
          <p:cNvPr id="49" name="CustomShape 9"/>
          <p:cNvSpPr/>
          <p:nvPr/>
        </p:nvSpPr>
        <p:spPr>
          <a:xfrm>
            <a:off x="6885720" y="6043680"/>
            <a:ext cx="45360" cy="37044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p:style>
        <p:txBody>
          <a:bodyPr/>
          <a:lstStyle/>
          <a:p>
            <a:endParaRPr lang="en-ID"/>
          </a:p>
        </p:txBody>
      </p:sp>
      <p:sp>
        <p:nvSpPr>
          <p:cNvPr id="50" name="CustomShape 10"/>
          <p:cNvSpPr/>
          <p:nvPr/>
        </p:nvSpPr>
        <p:spPr>
          <a:xfrm>
            <a:off x="443520" y="6014160"/>
            <a:ext cx="5882400" cy="419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90000"/>
              </a:lnSpc>
              <a:spcAft>
                <a:spcPts val="839"/>
              </a:spcAft>
            </a:pPr>
            <a:r>
              <a:rPr lang="en-US" sz="2400" b="1" strike="noStrike" spc="-1">
                <a:solidFill>
                  <a:srgbClr val="FF0000"/>
                </a:solidFill>
                <a:latin typeface="Times New Roman"/>
              </a:rPr>
              <a:t>Department of AIT-CSE</a:t>
            </a:r>
            <a:endParaRPr lang="en-US" sz="2400" b="0" strike="noStrike" spc="-1">
              <a:latin typeface="Arial"/>
            </a:endParaRPr>
          </a:p>
        </p:txBody>
      </p:sp>
      <p:sp>
        <p:nvSpPr>
          <p:cNvPr id="51" name="CustomShape 11"/>
          <p:cNvSpPr/>
          <p:nvPr/>
        </p:nvSpPr>
        <p:spPr>
          <a:xfrm>
            <a:off x="1657080" y="443160"/>
            <a:ext cx="84765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3600" b="1" strike="noStrike" spc="-1">
                <a:solidFill>
                  <a:srgbClr val="000000"/>
                </a:solidFill>
                <a:latin typeface="Arial Black"/>
              </a:rPr>
              <a:t>Fake News Detection Project</a:t>
            </a:r>
            <a:endParaRPr lang="en-US" sz="3600" b="0" strike="noStrike" spc="-1">
              <a:latin typeface="Arial"/>
            </a:endParaRPr>
          </a:p>
        </p:txBody>
      </p:sp>
      <p:sp>
        <p:nvSpPr>
          <p:cNvPr id="52" name="TextShape 12"/>
          <p:cNvSpPr txBox="1"/>
          <p:nvPr/>
        </p:nvSpPr>
        <p:spPr>
          <a:xfrm>
            <a:off x="8610480" y="6356520"/>
            <a:ext cx="2742840" cy="364680"/>
          </a:xfrm>
          <a:prstGeom prst="rect">
            <a:avLst/>
          </a:prstGeom>
          <a:noFill/>
          <a:ln>
            <a:noFill/>
          </a:ln>
        </p:spPr>
        <p:txBody>
          <a:bodyPr anchor="ctr">
            <a:noAutofit/>
          </a:bodyPr>
          <a:lstStyle/>
          <a:p>
            <a:pPr algn="r">
              <a:lnSpc>
                <a:spcPct val="100000"/>
              </a:lnSpc>
            </a:pPr>
            <a:fld id="{3A42B04B-29C9-47A0-A64D-DA182071D9A2}" type="slidenum">
              <a:rPr lang="en-US" sz="1200" b="0" strike="noStrike" spc="-1">
                <a:solidFill>
                  <a:srgbClr val="8B8B8B"/>
                </a:solidFill>
                <a:latin typeface="Calibri"/>
              </a:rPr>
              <a:t>1</a:t>
            </a:fld>
            <a:endParaRPr lang="en-US" sz="1200" b="0" strike="noStrike" spc="-1">
              <a:latin typeface="Times New Roman"/>
            </a:endParaRPr>
          </a:p>
        </p:txBody>
      </p:sp>
      <p:sp>
        <p:nvSpPr>
          <p:cNvPr id="53" name="CustomShape 13"/>
          <p:cNvSpPr/>
          <p:nvPr/>
        </p:nvSpPr>
        <p:spPr>
          <a:xfrm>
            <a:off x="2662019" y="4286322"/>
            <a:ext cx="3207781" cy="193753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z="2000" b="1" strike="noStrike" spc="-1" dirty="0">
                <a:solidFill>
                  <a:srgbClr val="000000"/>
                </a:solidFill>
                <a:latin typeface="Calibri"/>
              </a:rPr>
              <a:t>Submitted by: </a:t>
            </a:r>
            <a:endParaRPr lang="en-US" sz="2000" b="0" strike="noStrike" spc="-1" dirty="0">
              <a:latin typeface="Arial"/>
            </a:endParaRPr>
          </a:p>
          <a:p>
            <a:pPr>
              <a:lnSpc>
                <a:spcPct val="100000"/>
              </a:lnSpc>
            </a:pPr>
            <a:r>
              <a:rPr lang="en-US" sz="2000" b="0" strike="noStrike" spc="-1" dirty="0">
                <a:solidFill>
                  <a:srgbClr val="000000"/>
                </a:solidFill>
                <a:latin typeface="Calibri"/>
              </a:rPr>
              <a:t>NIKHIL SAINI – 24BCF10102</a:t>
            </a:r>
            <a:br>
              <a:rPr lang="en-US" sz="2000" b="0" strike="noStrike" spc="-1" dirty="0">
                <a:solidFill>
                  <a:srgbClr val="000000"/>
                </a:solidFill>
                <a:latin typeface="Calibri"/>
              </a:rPr>
            </a:br>
            <a:r>
              <a:rPr lang="en-US" sz="2000" b="0" strike="noStrike" spc="-1" dirty="0">
                <a:solidFill>
                  <a:srgbClr val="000000"/>
                </a:solidFill>
                <a:latin typeface="Calibri"/>
              </a:rPr>
              <a:t>Anshuman – 24BCF10086</a:t>
            </a:r>
            <a:br>
              <a:rPr lang="en-US" sz="2000" spc="-1" dirty="0">
                <a:solidFill>
                  <a:srgbClr val="000000"/>
                </a:solidFill>
                <a:latin typeface="Calibri"/>
              </a:rPr>
            </a:br>
            <a:r>
              <a:rPr lang="en-US" sz="2000" spc="-1" dirty="0">
                <a:solidFill>
                  <a:srgbClr val="000000"/>
                </a:solidFill>
                <a:latin typeface="Calibri"/>
              </a:rPr>
              <a:t>Akhand – 24BCF10085</a:t>
            </a:r>
            <a:br>
              <a:rPr lang="en-US" sz="2000" spc="-1" dirty="0">
                <a:solidFill>
                  <a:srgbClr val="000000"/>
                </a:solidFill>
                <a:latin typeface="Calibri"/>
              </a:rPr>
            </a:br>
            <a:r>
              <a:rPr lang="en-US" sz="2000" spc="-1" dirty="0">
                <a:solidFill>
                  <a:srgbClr val="000000"/>
                </a:solidFill>
                <a:latin typeface="Calibri"/>
              </a:rPr>
              <a:t>Jatin – 24BCF10084</a:t>
            </a:r>
            <a:br>
              <a:rPr lang="en-US" sz="2000" spc="-1" dirty="0">
                <a:solidFill>
                  <a:srgbClr val="000000"/>
                </a:solidFill>
                <a:latin typeface="Calibri"/>
              </a:rPr>
            </a:br>
            <a:r>
              <a:rPr lang="en-US" sz="2000" spc="-1" dirty="0">
                <a:solidFill>
                  <a:srgbClr val="000000"/>
                </a:solidFill>
                <a:latin typeface="Calibri"/>
              </a:rPr>
              <a:t>Rajyavardhan – 24BCF10099</a:t>
            </a:r>
            <a:endParaRPr lang="en-US" sz="2000" b="0" strike="noStrike" spc="-1" dirty="0">
              <a:latin typeface="Arial"/>
            </a:endParaRPr>
          </a:p>
        </p:txBody>
      </p:sp>
      <p:sp>
        <p:nvSpPr>
          <p:cNvPr id="54" name="CustomShape 14"/>
          <p:cNvSpPr/>
          <p:nvPr/>
        </p:nvSpPr>
        <p:spPr>
          <a:xfrm>
            <a:off x="7691760" y="4725720"/>
            <a:ext cx="2950200" cy="10044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2000" b="1" strike="noStrike" spc="-1">
                <a:solidFill>
                  <a:srgbClr val="000000"/>
                </a:solidFill>
                <a:latin typeface="Calibri"/>
              </a:rPr>
              <a:t>Under the Supervision of: </a:t>
            </a:r>
            <a:endParaRPr lang="en-US" sz="2000" b="0" strike="noStrike" spc="-1">
              <a:latin typeface="Arial"/>
            </a:endParaRPr>
          </a:p>
          <a:p>
            <a:pPr>
              <a:lnSpc>
                <a:spcPct val="100000"/>
              </a:lnSpc>
            </a:pPr>
            <a:r>
              <a:rPr lang="en-US" sz="2000" b="0" strike="noStrike" spc="-1">
                <a:solidFill>
                  <a:srgbClr val="000000"/>
                </a:solidFill>
                <a:latin typeface="Calibri"/>
              </a:rPr>
              <a:t>Mrs. Shilpa Sharma </a:t>
            </a:r>
            <a:endParaRPr lang="en-US" sz="2000" b="0" strike="noStrike" spc="-1">
              <a:latin typeface="Arial"/>
            </a:endParaRPr>
          </a:p>
          <a:p>
            <a:pPr>
              <a:lnSpc>
                <a:spcPct val="100000"/>
              </a:lnSpc>
            </a:pPr>
            <a:r>
              <a:rPr lang="en-US" sz="2000" b="0" strike="noStrike" spc="-1">
                <a:solidFill>
                  <a:srgbClr val="000000"/>
                </a:solidFill>
                <a:latin typeface="Calibri"/>
              </a:rPr>
              <a:t>E17638</a:t>
            </a:r>
            <a:endParaRPr lang="en-US" sz="2000" b="0" strike="noStrike" spc="-1">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Shape 1"/>
          <p:cNvSpPr txBox="1"/>
          <p:nvPr/>
        </p:nvSpPr>
        <p:spPr>
          <a:xfrm>
            <a:off x="885600" y="365040"/>
            <a:ext cx="10515240" cy="975960"/>
          </a:xfrm>
          <a:prstGeom prst="rect">
            <a:avLst/>
          </a:prstGeom>
          <a:noFill/>
          <a:ln>
            <a:noFill/>
          </a:ln>
        </p:spPr>
        <p:txBody>
          <a:bodyPr anchor="ctr">
            <a:noAutofit/>
          </a:bodyPr>
          <a:lstStyle/>
          <a:p>
            <a:pPr>
              <a:lnSpc>
                <a:spcPct val="90000"/>
              </a:lnSpc>
            </a:pPr>
            <a:r>
              <a:rPr lang="en-US" sz="4400" b="1" strike="noStrike" spc="-1">
                <a:solidFill>
                  <a:srgbClr val="000000"/>
                </a:solidFill>
                <a:latin typeface="Times New Roman"/>
              </a:rPr>
              <a:t>Outline</a:t>
            </a:r>
            <a:endParaRPr lang="en-US" sz="4400" b="0" strike="noStrike" spc="-1">
              <a:solidFill>
                <a:srgbClr val="000000"/>
              </a:solidFill>
              <a:latin typeface="Calibri"/>
            </a:endParaRPr>
          </a:p>
        </p:txBody>
      </p:sp>
      <p:sp>
        <p:nvSpPr>
          <p:cNvPr id="56" name="TextShape 2"/>
          <p:cNvSpPr txBox="1"/>
          <p:nvPr/>
        </p:nvSpPr>
        <p:spPr>
          <a:xfrm>
            <a:off x="838080" y="1588320"/>
            <a:ext cx="10515240" cy="495180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800" b="0" strike="noStrike" spc="-1">
                <a:solidFill>
                  <a:srgbClr val="000000"/>
                </a:solidFill>
                <a:latin typeface="Times New Roman"/>
              </a:rPr>
              <a:t>Introduction to Project</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Times New Roman"/>
              </a:rPr>
              <a:t>Problem Formulation</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Times New Roman"/>
              </a:rPr>
              <a:t>Objectives of the work </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Times New Roman"/>
              </a:rPr>
              <a:t>Methodology used</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2">
                <a:solidFill>
                  <a:srgbClr val="000000"/>
                </a:solidFill>
                <a:latin typeface="Times New Roman"/>
              </a:rPr>
              <a:t>Results and Outputs</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2">
                <a:solidFill>
                  <a:srgbClr val="000000"/>
                </a:solidFill>
                <a:latin typeface="Times New Roman"/>
              </a:rPr>
              <a:t>Conclusion</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Times New Roman"/>
              </a:rPr>
              <a:t>Future Scope</a:t>
            </a:r>
            <a:endParaRPr lang="en-US" sz="28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800" b="0" strike="noStrike" spc="-1">
                <a:solidFill>
                  <a:srgbClr val="000000"/>
                </a:solidFill>
                <a:latin typeface="Times New Roman"/>
              </a:rPr>
              <a:t>References</a:t>
            </a:r>
            <a:endParaRPr lang="en-US" sz="2800" b="0" strike="noStrike" spc="-1">
              <a:solidFill>
                <a:srgbClr val="000000"/>
              </a:solidFill>
              <a:latin typeface="Calibri"/>
            </a:endParaRPr>
          </a:p>
          <a:p>
            <a:pPr>
              <a:lnSpc>
                <a:spcPct val="90000"/>
              </a:lnSpc>
              <a:spcBef>
                <a:spcPts val="1001"/>
              </a:spcBef>
            </a:pPr>
            <a:endParaRPr lang="en-US" sz="2800" b="0" strike="noStrike" spc="-1">
              <a:solidFill>
                <a:srgbClr val="000000"/>
              </a:solidFill>
              <a:latin typeface="Calibri"/>
            </a:endParaRPr>
          </a:p>
          <a:p>
            <a:pPr>
              <a:lnSpc>
                <a:spcPct val="90000"/>
              </a:lnSpc>
              <a:spcBef>
                <a:spcPts val="1001"/>
              </a:spcBef>
            </a:pPr>
            <a:endParaRPr lang="en-US" sz="2800" b="0" strike="noStrike" spc="-1">
              <a:solidFill>
                <a:srgbClr val="000000"/>
              </a:solidFill>
              <a:latin typeface="Calibri"/>
            </a:endParaRPr>
          </a:p>
        </p:txBody>
      </p:sp>
      <p:sp>
        <p:nvSpPr>
          <p:cNvPr id="57"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D0738614-635F-45EC-82C9-09F6FA0AF147}" type="slidenum">
              <a:rPr lang="en-US" sz="1200" b="0" strike="noStrike" spc="-1">
                <a:solidFill>
                  <a:srgbClr val="8B8B8B"/>
                </a:solidFill>
                <a:latin typeface="Calibri"/>
              </a:rPr>
              <a:t>2</a:t>
            </a:fld>
            <a:endParaRPr lang="en-US" sz="1200" b="0" strike="noStrike" spc="-1">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1" strike="noStrike" spc="-1">
                <a:solidFill>
                  <a:srgbClr val="000000"/>
                </a:solidFill>
                <a:latin typeface="Calibri Light"/>
              </a:rPr>
              <a:t>Introduction to Project</a:t>
            </a:r>
            <a:endParaRPr lang="en-US" sz="4400" b="0" strike="noStrike" spc="-1">
              <a:solidFill>
                <a:srgbClr val="000000"/>
              </a:solidFill>
              <a:latin typeface="Calibri"/>
            </a:endParaRPr>
          </a:p>
        </p:txBody>
      </p:sp>
      <p:sp>
        <p:nvSpPr>
          <p:cNvPr id="59" name="TextShape 2"/>
          <p:cNvSpPr txBox="1"/>
          <p:nvPr/>
        </p:nvSpPr>
        <p:spPr>
          <a:xfrm>
            <a:off x="838080" y="2197800"/>
            <a:ext cx="10515240" cy="4350960"/>
          </a:xfrm>
          <a:prstGeom prst="rect">
            <a:avLst/>
          </a:prstGeom>
          <a:noFill/>
          <a:ln>
            <a:noFill/>
          </a:ln>
        </p:spPr>
        <p:txBody>
          <a:bodyPr>
            <a:normAutofit/>
          </a:bodyPr>
          <a:lstStyle/>
          <a:p>
            <a:pPr>
              <a:lnSpc>
                <a:spcPct val="90000"/>
              </a:lnSpc>
              <a:spcBef>
                <a:spcPts val="1001"/>
              </a:spcBef>
            </a:pPr>
            <a:r>
              <a:rPr lang="en-US" sz="2800" b="0" strike="noStrike" spc="-1">
                <a:solidFill>
                  <a:srgbClr val="000000"/>
                </a:solidFill>
                <a:latin typeface="Calibri"/>
              </a:rPr>
              <a:t>In today's digital age, the ongoing rapid circulation of fake news has become a pressing concern. This project addresses this issue by developing a solution for identifying fake news using the vast sea of information online. We're constructing an intelligent system that possesses the ability to differentiate between factual news stories and fabricated ones. To do this, we're assembling a diverse range of news articles to teach the system the distinctive traits that separate real news from deceptive content. </a:t>
            </a:r>
          </a:p>
        </p:txBody>
      </p:sp>
      <p:sp>
        <p:nvSpPr>
          <p:cNvPr id="60"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0184AC25-8A18-4B44-9B56-E03D1964D8B7}" type="slidenum">
              <a:rPr lang="en-US" sz="1200" b="0" strike="noStrike" spc="-1">
                <a:solidFill>
                  <a:srgbClr val="8B8B8B"/>
                </a:solidFill>
                <a:latin typeface="Calibri"/>
              </a:rPr>
              <a:t>3</a:t>
            </a:fld>
            <a:endParaRPr lang="en-US" sz="1200" b="0" strike="noStrike" spc="-1">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1" strike="noStrike" spc="-1">
                <a:solidFill>
                  <a:srgbClr val="000000"/>
                </a:solidFill>
                <a:latin typeface="Calibri Light"/>
              </a:rPr>
              <a:t>Problem Formulation</a:t>
            </a:r>
            <a:endParaRPr lang="en-US" sz="4400" b="0" strike="noStrike" spc="-1">
              <a:solidFill>
                <a:srgbClr val="000000"/>
              </a:solidFill>
              <a:latin typeface="Calibri"/>
            </a:endParaRPr>
          </a:p>
        </p:txBody>
      </p:sp>
      <p:sp>
        <p:nvSpPr>
          <p:cNvPr id="62" name="TextShape 2"/>
          <p:cNvSpPr txBox="1"/>
          <p:nvPr/>
        </p:nvSpPr>
        <p:spPr>
          <a:xfrm>
            <a:off x="838080" y="1825560"/>
            <a:ext cx="10515240" cy="4350960"/>
          </a:xfrm>
          <a:prstGeom prst="rect">
            <a:avLst/>
          </a:prstGeom>
          <a:noFill/>
          <a:ln>
            <a:noFill/>
          </a:ln>
        </p:spPr>
        <p:txBody>
          <a:bodyPr>
            <a:noAutofit/>
          </a:bodyPr>
          <a:lstStyle/>
          <a:p>
            <a:pPr>
              <a:lnSpc>
                <a:spcPct val="90000"/>
              </a:lnSpc>
              <a:spcBef>
                <a:spcPts val="1001"/>
              </a:spcBef>
            </a:pPr>
            <a:r>
              <a:rPr lang="en-US" sz="2800" b="0" strike="noStrike" spc="-1">
                <a:solidFill>
                  <a:srgbClr val="000000"/>
                </a:solidFill>
                <a:latin typeface="Calibri"/>
              </a:rPr>
              <a:t>In today's digital world, fake news spreads quickly and confuses people. Fake news can lead to wrong decisions and create problems. We want to solve this by building a smart system that can tell if a news story is true or fake. This will help people know what news to trust and stop false information from spreading. With the advent of social media and online platforms, false information can rapidly circulate, leading to serious consequences such as public panic, damage to reputations, and distorted public discourse. Misleading news can also influence critical decisions, including voting choices and public health behaviours.</a:t>
            </a:r>
          </a:p>
        </p:txBody>
      </p:sp>
      <p:sp>
        <p:nvSpPr>
          <p:cNvPr id="63"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D1199CAC-B979-403D-823E-F9FFA9BC94E5}" type="slidenum">
              <a:rPr lang="en-US" sz="1200" b="0" strike="noStrike" spc="-1">
                <a:solidFill>
                  <a:srgbClr val="8B8B8B"/>
                </a:solidFill>
                <a:latin typeface="Calibri"/>
              </a:rPr>
              <a:t>4</a:t>
            </a:fld>
            <a:endParaRPr lang="en-US" sz="1200" b="0" strike="noStrike" spc="-1">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1" strike="noStrike" spc="-1">
                <a:solidFill>
                  <a:srgbClr val="000000"/>
                </a:solidFill>
                <a:latin typeface="Calibri Light"/>
              </a:rPr>
              <a:t>Objectives of the Work</a:t>
            </a:r>
            <a:endParaRPr lang="en-US" sz="4400" b="0" strike="noStrike" spc="-1">
              <a:solidFill>
                <a:srgbClr val="000000"/>
              </a:solidFill>
              <a:latin typeface="Calibri"/>
            </a:endParaRPr>
          </a:p>
        </p:txBody>
      </p:sp>
      <p:sp>
        <p:nvSpPr>
          <p:cNvPr id="65" name="TextShape 2"/>
          <p:cNvSpPr txBox="1"/>
          <p:nvPr/>
        </p:nvSpPr>
        <p:spPr>
          <a:xfrm>
            <a:off x="838080" y="1690560"/>
            <a:ext cx="10515240" cy="4485960"/>
          </a:xfrm>
          <a:prstGeom prst="rect">
            <a:avLst/>
          </a:prstGeom>
          <a:noFill/>
          <a:ln>
            <a:noFill/>
          </a:ln>
        </p:spPr>
        <p:txBody>
          <a:bodyPr>
            <a:normAutofit/>
          </a:bodyPr>
          <a:lstStyle/>
          <a:p>
            <a:pPr>
              <a:lnSpc>
                <a:spcPct val="90000"/>
              </a:lnSpc>
              <a:spcBef>
                <a:spcPts val="1001"/>
              </a:spcBef>
            </a:pPr>
            <a:r>
              <a:rPr lang="en-US" sz="2800" b="0" strike="noStrike" spc="-1">
                <a:solidFill>
                  <a:srgbClr val="000000"/>
                </a:solidFill>
                <a:latin typeface="Calibri"/>
              </a:rPr>
              <a:t>The research objective of this study is to develop and evaluate an accurate and efficient fake news detection model using advanced NLP and machine learning techniques. This involves: </a:t>
            </a:r>
          </a:p>
          <a:p>
            <a:pPr marL="228600" indent="-228240">
              <a:lnSpc>
                <a:spcPct val="90000"/>
              </a:lnSpc>
              <a:spcBef>
                <a:spcPts val="1001"/>
              </a:spcBef>
              <a:buClr>
                <a:srgbClr val="000000"/>
              </a:buClr>
              <a:buFont typeface="Arial"/>
              <a:buChar char="•"/>
            </a:pPr>
            <a:r>
              <a:rPr lang="en-US" sz="2200" b="0" strike="noStrike" spc="-1">
                <a:solidFill>
                  <a:srgbClr val="000000"/>
                </a:solidFill>
                <a:latin typeface="Calibri"/>
              </a:rPr>
              <a:t>Data Collection and Preparation</a:t>
            </a:r>
          </a:p>
          <a:p>
            <a:pPr marL="228600" indent="-228240">
              <a:lnSpc>
                <a:spcPct val="90000"/>
              </a:lnSpc>
              <a:spcBef>
                <a:spcPts val="1001"/>
              </a:spcBef>
              <a:buClr>
                <a:srgbClr val="000000"/>
              </a:buClr>
              <a:buFont typeface="Arial"/>
              <a:buChar char="•"/>
            </a:pPr>
            <a:r>
              <a:rPr lang="en-US" sz="2200" b="0" strike="noStrike" spc="-1">
                <a:solidFill>
                  <a:srgbClr val="000000"/>
                </a:solidFill>
                <a:latin typeface="Calibri"/>
              </a:rPr>
              <a:t>Feature Extraction</a:t>
            </a:r>
          </a:p>
          <a:p>
            <a:pPr marL="228600" indent="-228240">
              <a:lnSpc>
                <a:spcPct val="90000"/>
              </a:lnSpc>
              <a:spcBef>
                <a:spcPts val="1001"/>
              </a:spcBef>
              <a:buClr>
                <a:srgbClr val="000000"/>
              </a:buClr>
              <a:buFont typeface="Arial"/>
              <a:buChar char="•"/>
            </a:pPr>
            <a:r>
              <a:rPr lang="en-US" sz="2200" b="0" strike="noStrike" spc="-1">
                <a:solidFill>
                  <a:srgbClr val="000000"/>
                </a:solidFill>
                <a:latin typeface="Calibri"/>
              </a:rPr>
              <a:t>Model Development</a:t>
            </a:r>
          </a:p>
          <a:p>
            <a:pPr marL="228600" indent="-228240">
              <a:lnSpc>
                <a:spcPct val="90000"/>
              </a:lnSpc>
              <a:spcBef>
                <a:spcPts val="1001"/>
              </a:spcBef>
              <a:buClr>
                <a:srgbClr val="000000"/>
              </a:buClr>
              <a:buFont typeface="Arial"/>
              <a:buChar char="•"/>
            </a:pPr>
            <a:r>
              <a:rPr lang="en-US" sz="2200" b="0" strike="noStrike" spc="-1">
                <a:solidFill>
                  <a:srgbClr val="000000"/>
                </a:solidFill>
                <a:latin typeface="Calibri"/>
              </a:rPr>
              <a:t>Training and Evaluation</a:t>
            </a:r>
          </a:p>
          <a:p>
            <a:pPr marL="228600" indent="-228240">
              <a:lnSpc>
                <a:spcPct val="90000"/>
              </a:lnSpc>
              <a:spcBef>
                <a:spcPts val="1001"/>
              </a:spcBef>
              <a:buClr>
                <a:srgbClr val="000000"/>
              </a:buClr>
              <a:buFont typeface="Arial"/>
              <a:buChar char="•"/>
            </a:pPr>
            <a:r>
              <a:rPr lang="en-US" sz="2200" b="0" strike="noStrike" spc="-1">
                <a:solidFill>
                  <a:srgbClr val="000000"/>
                </a:solidFill>
                <a:latin typeface="Calibri"/>
              </a:rPr>
              <a:t>Interpretability</a:t>
            </a:r>
          </a:p>
          <a:p>
            <a:pPr marL="228600" indent="-228240">
              <a:lnSpc>
                <a:spcPct val="90000"/>
              </a:lnSpc>
              <a:spcBef>
                <a:spcPts val="1001"/>
              </a:spcBef>
              <a:buClr>
                <a:srgbClr val="000000"/>
              </a:buClr>
              <a:buFont typeface="Arial"/>
              <a:buChar char="•"/>
            </a:pPr>
            <a:r>
              <a:rPr lang="en-US" sz="2200" b="0" strike="noStrike" spc="-1">
                <a:solidFill>
                  <a:srgbClr val="000000"/>
                </a:solidFill>
                <a:latin typeface="Calibri"/>
              </a:rPr>
              <a:t>Ethical Considerations</a:t>
            </a:r>
          </a:p>
          <a:p>
            <a:pPr marL="228600" indent="-228240">
              <a:lnSpc>
                <a:spcPct val="90000"/>
              </a:lnSpc>
              <a:spcBef>
                <a:spcPts val="1001"/>
              </a:spcBef>
              <a:buClr>
                <a:srgbClr val="000000"/>
              </a:buClr>
              <a:buFont typeface="Arial"/>
              <a:buChar char="•"/>
            </a:pPr>
            <a:r>
              <a:rPr lang="en-US" sz="2200" b="0" strike="noStrike" spc="-1">
                <a:solidFill>
                  <a:srgbClr val="000000"/>
                </a:solidFill>
                <a:latin typeface="Calibri"/>
              </a:rPr>
              <a:t>Comparative Analysis</a:t>
            </a:r>
          </a:p>
          <a:p>
            <a:pPr marL="228600" indent="-228240">
              <a:lnSpc>
                <a:spcPct val="90000"/>
              </a:lnSpc>
              <a:spcBef>
                <a:spcPts val="1001"/>
              </a:spcBef>
              <a:buClr>
                <a:srgbClr val="000000"/>
              </a:buClr>
              <a:buFont typeface="Arial"/>
              <a:buChar char="•"/>
            </a:pPr>
            <a:r>
              <a:rPr lang="en-US" sz="2200" b="0" strike="noStrike" spc="-1">
                <a:solidFill>
                  <a:srgbClr val="000000"/>
                </a:solidFill>
                <a:latin typeface="Calibri"/>
              </a:rPr>
              <a:t>User Interface (UI)</a:t>
            </a:r>
          </a:p>
        </p:txBody>
      </p:sp>
      <p:sp>
        <p:nvSpPr>
          <p:cNvPr id="66"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789948AF-2896-46D9-821D-B163E39A11CA}" type="slidenum">
              <a:rPr lang="en-US" sz="1200" b="0" strike="noStrike" spc="-1">
                <a:solidFill>
                  <a:srgbClr val="8B8B8B"/>
                </a:solidFill>
                <a:latin typeface="Calibri"/>
              </a:rPr>
              <a:t>5</a:t>
            </a:fld>
            <a:endParaRPr lang="en-US" sz="1200" b="0" strike="noStrike" spc="-1">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Methodology used</a:t>
            </a:r>
            <a:endParaRPr lang="en-US" sz="4400" b="0" strike="noStrike" spc="-1">
              <a:solidFill>
                <a:srgbClr val="000000"/>
              </a:solidFill>
              <a:latin typeface="Calibri"/>
            </a:endParaRPr>
          </a:p>
        </p:txBody>
      </p:sp>
      <p:pic>
        <p:nvPicPr>
          <p:cNvPr id="68" name="Content Placeholder 5"/>
          <p:cNvPicPr/>
          <p:nvPr/>
        </p:nvPicPr>
        <p:blipFill>
          <a:blip r:embed="rId2"/>
          <a:srcRect l="22682" t="19922" r="22550" b="21938"/>
          <a:stretch/>
        </p:blipFill>
        <p:spPr>
          <a:xfrm>
            <a:off x="1729800" y="1396800"/>
            <a:ext cx="8534160" cy="5095800"/>
          </a:xfrm>
          <a:prstGeom prst="rect">
            <a:avLst/>
          </a:prstGeom>
          <a:ln>
            <a:noFill/>
          </a:ln>
        </p:spPr>
      </p:pic>
      <p:sp>
        <p:nvSpPr>
          <p:cNvPr id="69"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906E153C-FB62-4FB1-9DE3-9B89046D2520}" type="slidenum">
              <a:rPr lang="en-US" sz="1200" b="0" strike="noStrike" spc="-1">
                <a:solidFill>
                  <a:srgbClr val="8B8B8B"/>
                </a:solidFill>
                <a:latin typeface="Calibri"/>
              </a:rPr>
              <a:t>6</a:t>
            </a:fld>
            <a:endParaRPr lang="en-US" sz="1200" b="0" strike="noStrike" spc="-1">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71"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5D749FFF-5E3F-4EDA-B099-A309A91E593E}" type="slidenum">
              <a:rPr lang="en-US" sz="1200" b="0" strike="noStrike" spc="-1">
                <a:solidFill>
                  <a:srgbClr val="8B8B8B"/>
                </a:solidFill>
                <a:latin typeface="Calibri"/>
              </a:rPr>
              <a:t>7</a:t>
            </a:fld>
            <a:endParaRPr lang="en-US" sz="1200" b="0" strike="noStrike" spc="-1">
              <a:latin typeface="Times New Roman"/>
            </a:endParaRPr>
          </a:p>
        </p:txBody>
      </p:sp>
      <p:sp>
        <p:nvSpPr>
          <p:cNvPr id="72" name="TextShape 3"/>
          <p:cNvSpPr txBox="1"/>
          <p:nvPr/>
        </p:nvSpPr>
        <p:spPr>
          <a:xfrm>
            <a:off x="838080" y="4975920"/>
            <a:ext cx="10515240" cy="120060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000" b="1" strike="noStrike" spc="-1">
                <a:solidFill>
                  <a:srgbClr val="000000"/>
                </a:solidFill>
                <a:latin typeface="Calibri"/>
              </a:rPr>
              <a:t>Step1: </a:t>
            </a:r>
            <a:endParaRPr lang="en-US" sz="2000" b="0" strike="noStrike" spc="-1">
              <a:solidFill>
                <a:srgbClr val="000000"/>
              </a:solidFill>
              <a:latin typeface="Calibri"/>
            </a:endParaRPr>
          </a:p>
          <a:p>
            <a:pPr marL="228600" indent="-228240">
              <a:lnSpc>
                <a:spcPct val="90000"/>
              </a:lnSpc>
              <a:spcBef>
                <a:spcPts val="1001"/>
              </a:spcBef>
              <a:buClr>
                <a:srgbClr val="000000"/>
              </a:buClr>
              <a:buFont typeface="Arial"/>
              <a:buChar char="•"/>
            </a:pPr>
            <a:r>
              <a:rPr lang="en-US" sz="2000" b="1" u="sng" strike="noStrike" spc="-1">
                <a:solidFill>
                  <a:srgbClr val="000000"/>
                </a:solidFill>
                <a:uFillTx/>
                <a:latin typeface="Calibri"/>
              </a:rPr>
              <a:t>Data Collection</a:t>
            </a:r>
            <a:endParaRPr lang="en-US" sz="2000" b="0" strike="noStrike" spc="-1">
              <a:solidFill>
                <a:srgbClr val="000000"/>
              </a:solidFill>
              <a:latin typeface="Calibri"/>
            </a:endParaRPr>
          </a:p>
          <a:p>
            <a:pPr marL="457200">
              <a:lnSpc>
                <a:spcPct val="90000"/>
              </a:lnSpc>
              <a:spcBef>
                <a:spcPts val="499"/>
              </a:spcBef>
            </a:pPr>
            <a:r>
              <a:rPr lang="en-US" sz="1600" b="0" strike="noStrike" spc="-1">
                <a:solidFill>
                  <a:srgbClr val="000000"/>
                </a:solidFill>
                <a:latin typeface="Calibri"/>
              </a:rPr>
              <a:t>We will need to collect the data either from dataset available on Kaggle, google or web scrap the data. And save it in excel file or in format of csv.  </a:t>
            </a:r>
          </a:p>
        </p:txBody>
      </p:sp>
      <p:pic>
        <p:nvPicPr>
          <p:cNvPr id="73" name="Picture 11"/>
          <p:cNvPicPr/>
          <p:nvPr/>
        </p:nvPicPr>
        <p:blipFill>
          <a:blip r:embed="rId2"/>
          <a:srcRect t="30558" r="25926"/>
          <a:stretch/>
        </p:blipFill>
        <p:spPr>
          <a:xfrm>
            <a:off x="2376360" y="1499400"/>
            <a:ext cx="7170120" cy="3394440"/>
          </a:xfrm>
          <a:prstGeom prst="rect">
            <a:avLst/>
          </a:prstGeom>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pic>
        <p:nvPicPr>
          <p:cNvPr id="75" name="Content Placeholder 5"/>
          <p:cNvPicPr/>
          <p:nvPr/>
        </p:nvPicPr>
        <p:blipFill>
          <a:blip r:embed="rId2"/>
          <a:stretch/>
        </p:blipFill>
        <p:spPr>
          <a:xfrm>
            <a:off x="2153520" y="1417320"/>
            <a:ext cx="6719400" cy="3719520"/>
          </a:xfrm>
          <a:prstGeom prst="rect">
            <a:avLst/>
          </a:prstGeom>
          <a:ln>
            <a:noFill/>
          </a:ln>
        </p:spPr>
      </p:pic>
      <p:sp>
        <p:nvSpPr>
          <p:cNvPr id="76"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F8B6374B-AE72-4026-891F-7D35592BB78E}" type="slidenum">
              <a:rPr lang="en-US" sz="1200" b="0" strike="noStrike" spc="-1">
                <a:solidFill>
                  <a:srgbClr val="8B8B8B"/>
                </a:solidFill>
                <a:latin typeface="Calibri"/>
              </a:rPr>
              <a:t>8</a:t>
            </a:fld>
            <a:endParaRPr lang="en-US" sz="1200" b="0" strike="noStrike" spc="-1">
              <a:latin typeface="Times New Roman"/>
            </a:endParaRPr>
          </a:p>
        </p:txBody>
      </p:sp>
      <p:sp>
        <p:nvSpPr>
          <p:cNvPr id="77" name="CustomShape 3"/>
          <p:cNvSpPr/>
          <p:nvPr/>
        </p:nvSpPr>
        <p:spPr>
          <a:xfrm>
            <a:off x="2080800" y="5543280"/>
            <a:ext cx="1017936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Calibri"/>
              </a:rPr>
              <a:t>Step2: </a:t>
            </a:r>
            <a:endParaRPr lang="en-US" sz="1800" b="0" strike="noStrike" spc="-1">
              <a:latin typeface="Arial"/>
            </a:endParaRPr>
          </a:p>
          <a:p>
            <a:pPr>
              <a:lnSpc>
                <a:spcPct val="100000"/>
              </a:lnSpc>
            </a:pPr>
            <a:r>
              <a:rPr lang="en-US" sz="1800" b="0" strike="noStrike" spc="-1">
                <a:solidFill>
                  <a:srgbClr val="000000"/>
                </a:solidFill>
                <a:latin typeface="Calibri"/>
              </a:rPr>
              <a:t>Load the dataset for </a:t>
            </a:r>
            <a:r>
              <a:rPr lang="en-US" sz="1800" b="1" u="sng" strike="noStrike" spc="-1">
                <a:solidFill>
                  <a:srgbClr val="000000"/>
                </a:solidFill>
                <a:uFillTx/>
                <a:latin typeface="Calibri"/>
              </a:rPr>
              <a:t>Data preprocessing</a:t>
            </a:r>
            <a:r>
              <a:rPr lang="en-US" sz="1800" b="0" strike="noStrike" spc="-1">
                <a:solidFill>
                  <a:srgbClr val="000000"/>
                </a:solidFill>
                <a:latin typeface="Calibri"/>
              </a:rPr>
              <a:t> in Jupyter notebook:</a:t>
            </a:r>
            <a:endParaRPr lang="en-US" sz="1800" b="0" strike="noStrike" spc="-1">
              <a:latin typeface="Arial"/>
            </a:endParaRPr>
          </a:p>
          <a:p>
            <a:pPr>
              <a:lnSpc>
                <a:spcPct val="100000"/>
              </a:lnSpc>
            </a:pPr>
            <a:r>
              <a:rPr lang="en-US" sz="1800" b="1" strike="noStrike" spc="-1">
                <a:solidFill>
                  <a:srgbClr val="000000"/>
                </a:solidFill>
                <a:latin typeface="Calibri"/>
              </a:rPr>
              <a:t>	</a:t>
            </a:r>
            <a:r>
              <a:rPr lang="en-US" sz="1800" b="0" u="sng" strike="noStrike" spc="-1">
                <a:solidFill>
                  <a:srgbClr val="000000"/>
                </a:solidFill>
                <a:uFillTx/>
                <a:latin typeface="Calibri"/>
              </a:rPr>
              <a:t>  </a:t>
            </a:r>
            <a:endParaRPr lang="en-US" sz="1800" b="0" strike="noStrike" spc="-1">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79"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0E524ADE-C2A7-4E40-9EE1-9A1E1694181E}" type="slidenum">
              <a:rPr lang="en-US" sz="1200" b="0" strike="noStrike" spc="-1">
                <a:solidFill>
                  <a:srgbClr val="8B8B8B"/>
                </a:solidFill>
                <a:latin typeface="Calibri"/>
              </a:rPr>
              <a:t>9</a:t>
            </a:fld>
            <a:endParaRPr lang="en-US" sz="1200" b="0" strike="noStrike" spc="-1">
              <a:latin typeface="Times New Roman"/>
            </a:endParaRPr>
          </a:p>
        </p:txBody>
      </p:sp>
      <p:sp>
        <p:nvSpPr>
          <p:cNvPr id="80" name="CustomShape 3"/>
          <p:cNvSpPr/>
          <p:nvPr/>
        </p:nvSpPr>
        <p:spPr>
          <a:xfrm>
            <a:off x="1006200" y="5095440"/>
            <a:ext cx="1017936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Times New Roman"/>
              </a:rPr>
              <a:t>Step3: </a:t>
            </a:r>
            <a:endParaRPr lang="en-US" sz="1800" b="0" strike="noStrike" spc="-1">
              <a:latin typeface="Arial"/>
            </a:endParaRPr>
          </a:p>
          <a:p>
            <a:pPr>
              <a:lnSpc>
                <a:spcPct val="100000"/>
              </a:lnSpc>
            </a:pPr>
            <a:r>
              <a:rPr lang="en-US" sz="1800" b="0" strike="noStrike" spc="-1">
                <a:solidFill>
                  <a:srgbClr val="000000"/>
                </a:solidFill>
                <a:latin typeface="Times New Roman"/>
              </a:rPr>
              <a:t>Look for null values and fill them with ‘ ‘ or with some special letter. Also use the columns that are required for your analysis and drop the rest. </a:t>
            </a:r>
            <a:r>
              <a:rPr lang="en-US" sz="1800" b="1" u="sng" strike="noStrike" spc="-1">
                <a:solidFill>
                  <a:srgbClr val="000000"/>
                </a:solidFill>
                <a:uFillTx/>
                <a:latin typeface="Times New Roman"/>
              </a:rPr>
              <a:t>Feature Selection </a:t>
            </a:r>
            <a:r>
              <a:rPr lang="en-US" sz="1800" b="0" strike="noStrike" spc="-1">
                <a:solidFill>
                  <a:srgbClr val="000000"/>
                </a:solidFill>
                <a:latin typeface="Times New Roman"/>
              </a:rPr>
              <a:t>is done.</a:t>
            </a:r>
            <a:r>
              <a:rPr lang="en-US" sz="1800" b="1" strike="noStrike" spc="-1">
                <a:solidFill>
                  <a:srgbClr val="000000"/>
                </a:solidFill>
                <a:latin typeface="Times New Roman"/>
              </a:rPr>
              <a:t>	</a:t>
            </a:r>
            <a:r>
              <a:rPr lang="en-US" sz="1800" b="0" strike="noStrike" spc="-1">
                <a:solidFill>
                  <a:srgbClr val="000000"/>
                </a:solidFill>
                <a:latin typeface="Times New Roman"/>
              </a:rPr>
              <a:t>  </a:t>
            </a:r>
            <a:endParaRPr lang="en-US" sz="1800" b="0" strike="noStrike" spc="-1">
              <a:latin typeface="Arial"/>
            </a:endParaRPr>
          </a:p>
        </p:txBody>
      </p:sp>
      <p:pic>
        <p:nvPicPr>
          <p:cNvPr id="81" name="Picture 8"/>
          <p:cNvPicPr/>
          <p:nvPr/>
        </p:nvPicPr>
        <p:blipFill>
          <a:blip r:embed="rId2"/>
          <a:stretch/>
        </p:blipFill>
        <p:spPr>
          <a:xfrm>
            <a:off x="3501000" y="1562040"/>
            <a:ext cx="4688640" cy="3373560"/>
          </a:xfrm>
          <a:prstGeom prst="rect">
            <a:avLst/>
          </a:prstGeom>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83"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774BD084-21E4-4F0F-8C9C-F1B664FB15BF}" type="slidenum">
              <a:rPr lang="en-US" sz="1200" b="0" strike="noStrike" spc="-1">
                <a:solidFill>
                  <a:srgbClr val="8B8B8B"/>
                </a:solidFill>
                <a:latin typeface="Calibri"/>
              </a:rPr>
              <a:t>10</a:t>
            </a:fld>
            <a:endParaRPr lang="en-US" sz="1200" b="0" strike="noStrike" spc="-1">
              <a:latin typeface="Times New Roman"/>
            </a:endParaRPr>
          </a:p>
        </p:txBody>
      </p:sp>
      <p:sp>
        <p:nvSpPr>
          <p:cNvPr id="84" name="CustomShape 3"/>
          <p:cNvSpPr/>
          <p:nvPr/>
        </p:nvSpPr>
        <p:spPr>
          <a:xfrm>
            <a:off x="1173960" y="5226120"/>
            <a:ext cx="1017936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Times New Roman"/>
              </a:rPr>
              <a:t>Step4: </a:t>
            </a:r>
            <a:endParaRPr lang="en-US" sz="1800" b="0" strike="noStrike" spc="-1">
              <a:latin typeface="Arial"/>
            </a:endParaRPr>
          </a:p>
          <a:p>
            <a:pPr>
              <a:lnSpc>
                <a:spcPct val="100000"/>
              </a:lnSpc>
            </a:pPr>
            <a:r>
              <a:rPr lang="en-US" sz="1800" b="0" strike="noStrike" spc="-1">
                <a:solidFill>
                  <a:srgbClr val="000000"/>
                </a:solidFill>
                <a:latin typeface="Times New Roman"/>
              </a:rPr>
              <a:t>Select the model that you wish to use. Here we used the DecisionTreeClassifier.</a:t>
            </a:r>
            <a:r>
              <a:rPr lang="en-US" sz="1800" b="1" strike="noStrike" spc="-1">
                <a:solidFill>
                  <a:srgbClr val="000000"/>
                </a:solidFill>
                <a:latin typeface="Times New Roman"/>
              </a:rPr>
              <a:t> </a:t>
            </a:r>
            <a:r>
              <a:rPr lang="en-US" sz="1800" b="1" u="sng" strike="noStrike" spc="-1">
                <a:solidFill>
                  <a:srgbClr val="000000"/>
                </a:solidFill>
                <a:uFillTx/>
                <a:latin typeface="Times New Roman"/>
              </a:rPr>
              <a:t>Model selection </a:t>
            </a:r>
            <a:r>
              <a:rPr lang="en-US" sz="1800" b="0" strike="noStrike" spc="-1">
                <a:solidFill>
                  <a:srgbClr val="000000"/>
                </a:solidFill>
                <a:latin typeface="Times New Roman"/>
              </a:rPr>
              <a:t>is very important step.  </a:t>
            </a:r>
            <a:endParaRPr lang="en-US" sz="1800" b="0" strike="noStrike" spc="-1">
              <a:latin typeface="Arial"/>
            </a:endParaRPr>
          </a:p>
        </p:txBody>
      </p:sp>
      <p:pic>
        <p:nvPicPr>
          <p:cNvPr id="85" name="Picture 8"/>
          <p:cNvPicPr/>
          <p:nvPr/>
        </p:nvPicPr>
        <p:blipFill>
          <a:blip r:embed="rId2"/>
          <a:stretch/>
        </p:blipFill>
        <p:spPr>
          <a:xfrm>
            <a:off x="3695040" y="1371960"/>
            <a:ext cx="4419720" cy="3552480"/>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87"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FD52EF7D-8C50-4F9E-A333-8C05E7B193CF}" type="slidenum">
              <a:rPr lang="en-US" sz="1200" b="0" strike="noStrike" spc="-1">
                <a:solidFill>
                  <a:srgbClr val="8B8B8B"/>
                </a:solidFill>
                <a:latin typeface="Calibri"/>
              </a:rPr>
              <a:t>11</a:t>
            </a:fld>
            <a:endParaRPr lang="en-US" sz="1200" b="0" strike="noStrike" spc="-1">
              <a:latin typeface="Times New Roman"/>
            </a:endParaRPr>
          </a:p>
        </p:txBody>
      </p:sp>
      <p:sp>
        <p:nvSpPr>
          <p:cNvPr id="88" name="CustomShape 3"/>
          <p:cNvSpPr/>
          <p:nvPr/>
        </p:nvSpPr>
        <p:spPr>
          <a:xfrm>
            <a:off x="1173960" y="5226120"/>
            <a:ext cx="10179360" cy="639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Times New Roman"/>
              </a:rPr>
              <a:t>Step5: </a:t>
            </a:r>
            <a:endParaRPr lang="en-US" sz="1800" b="0" strike="noStrike" spc="-1">
              <a:latin typeface="Arial"/>
            </a:endParaRPr>
          </a:p>
          <a:p>
            <a:pPr>
              <a:lnSpc>
                <a:spcPct val="100000"/>
              </a:lnSpc>
            </a:pPr>
            <a:r>
              <a:rPr lang="en-US" sz="1800" b="1" u="sng" strike="noStrike" spc="-1">
                <a:solidFill>
                  <a:srgbClr val="000000"/>
                </a:solidFill>
                <a:uFillTx/>
                <a:latin typeface="Times New Roman"/>
              </a:rPr>
              <a:t>Train the model </a:t>
            </a:r>
            <a:r>
              <a:rPr lang="en-US" sz="1800" b="0" strike="noStrike" spc="-1">
                <a:solidFill>
                  <a:srgbClr val="000000"/>
                </a:solidFill>
                <a:latin typeface="Times New Roman"/>
              </a:rPr>
              <a:t>and spilt the data into training and testing data</a:t>
            </a:r>
            <a:endParaRPr lang="en-US" sz="1800" b="0" strike="noStrike" spc="-1">
              <a:latin typeface="Arial"/>
            </a:endParaRPr>
          </a:p>
        </p:txBody>
      </p:sp>
      <p:pic>
        <p:nvPicPr>
          <p:cNvPr id="89" name="Picture 4"/>
          <p:cNvPicPr/>
          <p:nvPr/>
        </p:nvPicPr>
        <p:blipFill>
          <a:blip r:embed="rId2"/>
          <a:stretch/>
        </p:blipFill>
        <p:spPr>
          <a:xfrm>
            <a:off x="3084120" y="1897560"/>
            <a:ext cx="5631480" cy="2323800"/>
          </a:xfrm>
          <a:prstGeom prst="rect">
            <a:avLst/>
          </a:prstGeom>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91"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95FFA820-7808-4D07-BF29-50F15D9157FC}" type="slidenum">
              <a:rPr lang="en-US" sz="1200" b="0" strike="noStrike" spc="-1">
                <a:solidFill>
                  <a:srgbClr val="8B8B8B"/>
                </a:solidFill>
                <a:latin typeface="Calibri"/>
              </a:rPr>
              <a:t>12</a:t>
            </a:fld>
            <a:endParaRPr lang="en-US" sz="1200" b="0" strike="noStrike" spc="-1">
              <a:latin typeface="Times New Roman"/>
            </a:endParaRPr>
          </a:p>
        </p:txBody>
      </p:sp>
      <p:sp>
        <p:nvSpPr>
          <p:cNvPr id="92" name="CustomShape 3"/>
          <p:cNvSpPr/>
          <p:nvPr/>
        </p:nvSpPr>
        <p:spPr>
          <a:xfrm>
            <a:off x="1173960" y="4466160"/>
            <a:ext cx="10179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Times New Roman"/>
              </a:rPr>
              <a:t>Step6:</a:t>
            </a:r>
            <a:r>
              <a:rPr lang="en-US" sz="1800" b="0" strike="noStrike" spc="-1">
                <a:solidFill>
                  <a:srgbClr val="000000"/>
                </a:solidFill>
                <a:latin typeface="Times New Roman"/>
              </a:rPr>
              <a:t> </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imes New Roman"/>
              </a:rPr>
              <a:t>Now we make a function for predicting whether the news is fake or real. </a:t>
            </a:r>
            <a:endParaRPr lang="en-US" sz="1800" b="0" strike="noStrike" spc="-1">
              <a:latin typeface="Arial"/>
            </a:endParaRPr>
          </a:p>
          <a:p>
            <a:pPr>
              <a:lnSpc>
                <a:spcPct val="100000"/>
              </a:lnSpc>
            </a:pPr>
            <a:r>
              <a:rPr lang="en-US" sz="1800" b="0" strike="noStrike" spc="-1">
                <a:solidFill>
                  <a:srgbClr val="000000"/>
                </a:solidFill>
                <a:latin typeface="Times New Roman"/>
              </a:rPr>
              <a:t>And we do </a:t>
            </a:r>
            <a:r>
              <a:rPr lang="en-US" sz="1800" b="1" u="sng" strike="noStrike" spc="-1">
                <a:solidFill>
                  <a:srgbClr val="000000"/>
                </a:solidFill>
                <a:uFillTx/>
                <a:latin typeface="Times New Roman"/>
              </a:rPr>
              <a:t>Testing</a:t>
            </a:r>
            <a:r>
              <a:rPr lang="en-US" sz="1800" b="0" strike="noStrike" spc="-1">
                <a:solidFill>
                  <a:srgbClr val="000000"/>
                </a:solidFill>
                <a:latin typeface="Times New Roman"/>
              </a:rPr>
              <a:t>. If the news is reliable, it will show the user that it is reliable, otherwise unreliable.</a:t>
            </a:r>
            <a:r>
              <a:rPr lang="en-US" sz="1800" b="1" strike="noStrike" spc="-1">
                <a:solidFill>
                  <a:srgbClr val="000000"/>
                </a:solidFill>
                <a:latin typeface="Times New Roman"/>
              </a:rPr>
              <a:t>	</a:t>
            </a:r>
            <a:r>
              <a:rPr lang="en-US" sz="1800" b="0" u="sng" strike="noStrike" spc="-1">
                <a:solidFill>
                  <a:srgbClr val="000000"/>
                </a:solidFill>
                <a:uFillTx/>
                <a:latin typeface="Times New Roman"/>
              </a:rPr>
              <a:t>  </a:t>
            </a:r>
            <a:endParaRPr lang="en-US" sz="1800" b="0" strike="noStrike" spc="-1">
              <a:latin typeface="Arial"/>
            </a:endParaRPr>
          </a:p>
        </p:txBody>
      </p:sp>
      <p:pic>
        <p:nvPicPr>
          <p:cNvPr id="93" name="Picture 8"/>
          <p:cNvPicPr/>
          <p:nvPr/>
        </p:nvPicPr>
        <p:blipFill>
          <a:blip r:embed="rId2"/>
          <a:srcRect b="37777"/>
          <a:stretch/>
        </p:blipFill>
        <p:spPr>
          <a:xfrm>
            <a:off x="2545920" y="1425600"/>
            <a:ext cx="6709680" cy="2879640"/>
          </a:xfrm>
          <a:prstGeom prst="rect">
            <a:avLst/>
          </a:prstGeom>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95"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6B0115FA-6462-4E49-82B2-EFBD33B99BCE}" type="slidenum">
              <a:rPr lang="en-US" sz="1200" b="0" strike="noStrike" spc="-1">
                <a:solidFill>
                  <a:srgbClr val="8B8B8B"/>
                </a:solidFill>
                <a:latin typeface="Calibri"/>
              </a:rPr>
              <a:t>13</a:t>
            </a:fld>
            <a:endParaRPr lang="en-US" sz="1200" b="0" strike="noStrike" spc="-1">
              <a:latin typeface="Times New Roman"/>
            </a:endParaRPr>
          </a:p>
        </p:txBody>
      </p:sp>
      <p:sp>
        <p:nvSpPr>
          <p:cNvPr id="96" name="CustomShape 3"/>
          <p:cNvSpPr/>
          <p:nvPr/>
        </p:nvSpPr>
        <p:spPr>
          <a:xfrm>
            <a:off x="1173960" y="4466160"/>
            <a:ext cx="1017936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Times New Roman"/>
              </a:rPr>
              <a:t>Step7:</a:t>
            </a:r>
            <a:r>
              <a:rPr lang="en-US" sz="1800" b="0" strike="noStrike" spc="-1">
                <a:solidFill>
                  <a:srgbClr val="000000"/>
                </a:solidFill>
                <a:latin typeface="Times New Roman"/>
              </a:rPr>
              <a:t> </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imes New Roman"/>
              </a:rPr>
              <a:t>Now once we know whether a news is fake or not. We will do analysis of the result and we will find the accuracy score of the training data.</a:t>
            </a:r>
            <a:r>
              <a:rPr lang="en-US" sz="1800" b="1" strike="noStrike" spc="-1">
                <a:solidFill>
                  <a:srgbClr val="000000"/>
                </a:solidFill>
                <a:latin typeface="Times New Roman"/>
              </a:rPr>
              <a:t>	</a:t>
            </a:r>
            <a:r>
              <a:rPr lang="en-US" sz="1800" b="0" u="sng" strike="noStrike" spc="-1">
                <a:solidFill>
                  <a:srgbClr val="000000"/>
                </a:solidFill>
                <a:uFillTx/>
                <a:latin typeface="Times New Roman"/>
              </a:rPr>
              <a:t>  </a:t>
            </a:r>
            <a:endParaRPr lang="en-US" sz="1800" b="0" strike="noStrike" spc="-1">
              <a:latin typeface="Arial"/>
            </a:endParaRPr>
          </a:p>
        </p:txBody>
      </p:sp>
      <p:pic>
        <p:nvPicPr>
          <p:cNvPr id="97" name="Picture 4"/>
          <p:cNvPicPr/>
          <p:nvPr/>
        </p:nvPicPr>
        <p:blipFill>
          <a:blip r:embed="rId2"/>
          <a:stretch/>
        </p:blipFill>
        <p:spPr>
          <a:xfrm>
            <a:off x="1806480" y="1547640"/>
            <a:ext cx="7533000" cy="2088000"/>
          </a:xfrm>
          <a:prstGeom prst="rect">
            <a:avLst/>
          </a:prstGeom>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99"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B677BA18-52C1-46C5-BCF2-B7BDE0EFA601}" type="slidenum">
              <a:rPr lang="en-US" sz="1200" b="0" strike="noStrike" spc="-1">
                <a:solidFill>
                  <a:srgbClr val="8B8B8B"/>
                </a:solidFill>
                <a:latin typeface="Calibri"/>
              </a:rPr>
              <a:t>14</a:t>
            </a:fld>
            <a:endParaRPr lang="en-US" sz="1200" b="0" strike="noStrike" spc="-1">
              <a:latin typeface="Times New Roman"/>
            </a:endParaRPr>
          </a:p>
        </p:txBody>
      </p:sp>
      <p:sp>
        <p:nvSpPr>
          <p:cNvPr id="100" name="CustomShape 3"/>
          <p:cNvSpPr/>
          <p:nvPr/>
        </p:nvSpPr>
        <p:spPr>
          <a:xfrm>
            <a:off x="567720" y="5168520"/>
            <a:ext cx="11056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Times New Roman"/>
              </a:rPr>
              <a:t>Step8:</a:t>
            </a:r>
            <a:r>
              <a:rPr lang="en-US" sz="1800" b="0" strike="noStrike" spc="-1">
                <a:solidFill>
                  <a:srgbClr val="000000"/>
                </a:solidFill>
                <a:latin typeface="Times New Roman"/>
              </a:rPr>
              <a:t> </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imes New Roman"/>
              </a:rPr>
              <a:t>Now since analysis is done, we can go for making the website. Use PyCharm or any IDE for python and import the libraries and write the code using streamlit.</a:t>
            </a:r>
            <a:endParaRPr lang="en-US" sz="1800" b="0" strike="noStrike" spc="-1">
              <a:latin typeface="Arial"/>
            </a:endParaRPr>
          </a:p>
        </p:txBody>
      </p:sp>
      <p:pic>
        <p:nvPicPr>
          <p:cNvPr id="101" name="Picture 5"/>
          <p:cNvPicPr/>
          <p:nvPr/>
        </p:nvPicPr>
        <p:blipFill>
          <a:blip r:embed="rId2"/>
          <a:stretch/>
        </p:blipFill>
        <p:spPr>
          <a:xfrm>
            <a:off x="2760480" y="1300680"/>
            <a:ext cx="6038280" cy="3879720"/>
          </a:xfrm>
          <a:prstGeom prst="rect">
            <a:avLst/>
          </a:prstGeom>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103"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8F30B537-8AA1-41E2-9632-E2A07D739265}" type="slidenum">
              <a:rPr lang="en-US" sz="1200" b="0" strike="noStrike" spc="-1">
                <a:solidFill>
                  <a:srgbClr val="8B8B8B"/>
                </a:solidFill>
                <a:latin typeface="Calibri"/>
              </a:rPr>
              <a:t>15</a:t>
            </a:fld>
            <a:endParaRPr lang="en-US" sz="1200" b="0" strike="noStrike" spc="-1">
              <a:latin typeface="Times New Roman"/>
            </a:endParaRPr>
          </a:p>
        </p:txBody>
      </p:sp>
      <p:sp>
        <p:nvSpPr>
          <p:cNvPr id="104" name="CustomShape 3"/>
          <p:cNvSpPr/>
          <p:nvPr/>
        </p:nvSpPr>
        <p:spPr>
          <a:xfrm>
            <a:off x="838080" y="4906800"/>
            <a:ext cx="975564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Times New Roman"/>
              </a:rPr>
              <a:t>Step8:</a:t>
            </a:r>
            <a:r>
              <a:rPr lang="en-US" sz="1800" b="0" strike="noStrike" spc="-1">
                <a:solidFill>
                  <a:srgbClr val="000000"/>
                </a:solidFill>
                <a:latin typeface="Times New Roman"/>
              </a:rPr>
              <a:t> </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imes New Roman"/>
              </a:rPr>
              <a:t>Now since analysis is done, we can go for making the website. Use PyCharm or any IDE for python and import the libraries and write the code using streamlit.</a:t>
            </a:r>
            <a:endParaRPr lang="en-US" sz="1800" b="0" strike="noStrike" spc="-1">
              <a:latin typeface="Arial"/>
            </a:endParaRPr>
          </a:p>
        </p:txBody>
      </p:sp>
      <p:pic>
        <p:nvPicPr>
          <p:cNvPr id="105" name="Picture 4"/>
          <p:cNvPicPr/>
          <p:nvPr/>
        </p:nvPicPr>
        <p:blipFill>
          <a:blip r:embed="rId2"/>
          <a:stretch/>
        </p:blipFill>
        <p:spPr>
          <a:xfrm>
            <a:off x="2945160" y="1397160"/>
            <a:ext cx="5833800" cy="3260160"/>
          </a:xfrm>
          <a:prstGeom prst="rect">
            <a:avLst/>
          </a:prstGeom>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107"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9DC52083-A55A-4D9B-969A-95B39FA97F7B}" type="slidenum">
              <a:rPr lang="en-US" sz="1200" b="0" strike="noStrike" spc="-1">
                <a:solidFill>
                  <a:srgbClr val="8B8B8B"/>
                </a:solidFill>
                <a:latin typeface="Calibri"/>
              </a:rPr>
              <a:t>16</a:t>
            </a:fld>
            <a:endParaRPr lang="en-US" sz="1200" b="0" strike="noStrike" spc="-1">
              <a:latin typeface="Times New Roman"/>
            </a:endParaRPr>
          </a:p>
        </p:txBody>
      </p:sp>
      <p:sp>
        <p:nvSpPr>
          <p:cNvPr id="108" name="CustomShape 3"/>
          <p:cNvSpPr/>
          <p:nvPr/>
        </p:nvSpPr>
        <p:spPr>
          <a:xfrm>
            <a:off x="838080" y="4906800"/>
            <a:ext cx="975564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Times New Roman"/>
              </a:rPr>
              <a:t>Step9:</a:t>
            </a:r>
            <a:r>
              <a:rPr lang="en-US" sz="1800" b="0" strike="noStrike" spc="-1">
                <a:solidFill>
                  <a:srgbClr val="000000"/>
                </a:solidFill>
                <a:latin typeface="Times New Roman"/>
              </a:rPr>
              <a:t> </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imes New Roman"/>
              </a:rPr>
              <a:t>Run the app.py using “Streamlit run app.py”</a:t>
            </a:r>
            <a:endParaRPr lang="en-US" sz="1800" b="0" strike="noStrike" spc="-1">
              <a:latin typeface="Arial"/>
            </a:endParaRPr>
          </a:p>
          <a:p>
            <a:pPr>
              <a:lnSpc>
                <a:spcPct val="100000"/>
              </a:lnSpc>
            </a:pPr>
            <a:r>
              <a:rPr lang="en-US" sz="1800" b="0" strike="noStrike" spc="-1">
                <a:solidFill>
                  <a:srgbClr val="000000"/>
                </a:solidFill>
                <a:latin typeface="Times New Roman"/>
              </a:rPr>
              <a:t>And the interface will look like this. </a:t>
            </a:r>
            <a:endParaRPr lang="en-US" sz="1800" b="0" strike="noStrike" spc="-1">
              <a:latin typeface="Arial"/>
            </a:endParaRPr>
          </a:p>
        </p:txBody>
      </p:sp>
      <p:pic>
        <p:nvPicPr>
          <p:cNvPr id="109" name="Picture 5"/>
          <p:cNvPicPr/>
          <p:nvPr/>
        </p:nvPicPr>
        <p:blipFill>
          <a:blip r:embed="rId2"/>
          <a:stretch/>
        </p:blipFill>
        <p:spPr>
          <a:xfrm>
            <a:off x="1922040" y="1409040"/>
            <a:ext cx="7936920" cy="3639600"/>
          </a:xfrm>
          <a:prstGeom prst="rect">
            <a:avLst/>
          </a:prstGeom>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111"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0B6E51B8-1AB2-44D7-9007-773569524510}" type="slidenum">
              <a:rPr lang="en-US" sz="1200" b="0" strike="noStrike" spc="-1">
                <a:solidFill>
                  <a:srgbClr val="8B8B8B"/>
                </a:solidFill>
                <a:latin typeface="Calibri"/>
              </a:rPr>
              <a:t>17</a:t>
            </a:fld>
            <a:endParaRPr lang="en-US" sz="1200" b="0" strike="noStrike" spc="-1">
              <a:latin typeface="Times New Roman"/>
            </a:endParaRPr>
          </a:p>
        </p:txBody>
      </p:sp>
      <p:sp>
        <p:nvSpPr>
          <p:cNvPr id="112" name="CustomShape 3"/>
          <p:cNvSpPr/>
          <p:nvPr/>
        </p:nvSpPr>
        <p:spPr>
          <a:xfrm>
            <a:off x="838080" y="4906800"/>
            <a:ext cx="975564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Times New Roman"/>
              </a:rPr>
              <a:t>Step9:</a:t>
            </a:r>
            <a:r>
              <a:rPr lang="en-US" sz="1800" b="0" strike="noStrike" spc="-1">
                <a:solidFill>
                  <a:srgbClr val="000000"/>
                </a:solidFill>
                <a:latin typeface="Times New Roman"/>
              </a:rPr>
              <a:t> </a:t>
            </a:r>
            <a:endParaRPr lang="en-US" sz="1800" b="0" strike="noStrike" spc="-1">
              <a:latin typeface="Arial"/>
            </a:endParaRPr>
          </a:p>
          <a:p>
            <a:pPr>
              <a:lnSpc>
                <a:spcPct val="100000"/>
              </a:lnSpc>
            </a:pPr>
            <a:endParaRPr lang="en-US" sz="1800" b="0" strike="noStrike" spc="-1">
              <a:latin typeface="Arial"/>
            </a:endParaRPr>
          </a:p>
          <a:p>
            <a:pPr>
              <a:lnSpc>
                <a:spcPct val="100000"/>
              </a:lnSpc>
            </a:pPr>
            <a:r>
              <a:rPr lang="en-US" sz="1800" b="0" strike="noStrike" spc="-1">
                <a:solidFill>
                  <a:srgbClr val="000000"/>
                </a:solidFill>
                <a:latin typeface="Times New Roman"/>
              </a:rPr>
              <a:t>It will show a lil description about the project and the current time. Along with it, it will also show until when the data is updated. Also about the dataset.</a:t>
            </a:r>
            <a:endParaRPr lang="en-US" sz="1800" b="0" strike="noStrike" spc="-1">
              <a:latin typeface="Arial"/>
            </a:endParaRPr>
          </a:p>
        </p:txBody>
      </p:sp>
      <p:pic>
        <p:nvPicPr>
          <p:cNvPr id="113" name="Picture 5"/>
          <p:cNvPicPr/>
          <p:nvPr/>
        </p:nvPicPr>
        <p:blipFill>
          <a:blip r:embed="rId2"/>
          <a:stretch/>
        </p:blipFill>
        <p:spPr>
          <a:xfrm>
            <a:off x="1922040" y="1409040"/>
            <a:ext cx="7936920" cy="3639600"/>
          </a:xfrm>
          <a:prstGeom prst="rect">
            <a:avLst/>
          </a:prstGeom>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115"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FC37C54E-DE70-43EE-A42F-9064B274525B}" type="slidenum">
              <a:rPr lang="en-US" sz="1200" b="0" strike="noStrike" spc="-1">
                <a:solidFill>
                  <a:srgbClr val="8B8B8B"/>
                </a:solidFill>
                <a:latin typeface="Calibri"/>
              </a:rPr>
              <a:t>18</a:t>
            </a:fld>
            <a:endParaRPr lang="en-US" sz="1200" b="0" strike="noStrike" spc="-1">
              <a:latin typeface="Times New Roman"/>
            </a:endParaRPr>
          </a:p>
        </p:txBody>
      </p:sp>
      <p:sp>
        <p:nvSpPr>
          <p:cNvPr id="116" name="CustomShape 3"/>
          <p:cNvSpPr/>
          <p:nvPr/>
        </p:nvSpPr>
        <p:spPr>
          <a:xfrm>
            <a:off x="838080" y="5032080"/>
            <a:ext cx="975564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Times New Roman"/>
              </a:rPr>
              <a:t>Step9:</a:t>
            </a:r>
            <a:endParaRPr lang="en-US" sz="1800" b="0" strike="noStrike" spc="-1">
              <a:latin typeface="Arial"/>
            </a:endParaRPr>
          </a:p>
          <a:p>
            <a:pPr>
              <a:lnSpc>
                <a:spcPct val="100000"/>
              </a:lnSpc>
            </a:pPr>
            <a:r>
              <a:rPr lang="en-US" sz="1800" b="0" strike="noStrike" spc="-1">
                <a:solidFill>
                  <a:srgbClr val="000000"/>
                </a:solidFill>
                <a:latin typeface="Times New Roman"/>
              </a:rPr>
              <a:t> </a:t>
            </a:r>
            <a:endParaRPr lang="en-US" sz="1800" b="0" strike="noStrike" spc="-1">
              <a:latin typeface="Arial"/>
            </a:endParaRPr>
          </a:p>
          <a:p>
            <a:pPr>
              <a:lnSpc>
                <a:spcPct val="100000"/>
              </a:lnSpc>
            </a:pPr>
            <a:r>
              <a:rPr lang="en-US" sz="1800" b="0" strike="noStrike" spc="-1">
                <a:solidFill>
                  <a:srgbClr val="000000"/>
                </a:solidFill>
                <a:latin typeface="Times New Roman"/>
              </a:rPr>
              <a:t>Now I checked for the fake news and it says ‘unreliable’ which is correct. It also shows us the accuracy of the model which is 0.99</a:t>
            </a:r>
            <a:endParaRPr lang="en-US" sz="1800" b="0" strike="noStrike" spc="-1">
              <a:latin typeface="Arial"/>
            </a:endParaRPr>
          </a:p>
        </p:txBody>
      </p:sp>
      <p:pic>
        <p:nvPicPr>
          <p:cNvPr id="117" name="Picture 4"/>
          <p:cNvPicPr/>
          <p:nvPr/>
        </p:nvPicPr>
        <p:blipFill>
          <a:blip r:embed="rId2"/>
          <a:stretch/>
        </p:blipFill>
        <p:spPr>
          <a:xfrm>
            <a:off x="1929960" y="1442880"/>
            <a:ext cx="8163720" cy="3711600"/>
          </a:xfrm>
          <a:prstGeom prst="rect">
            <a:avLst/>
          </a:prstGeom>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Results and Outputs</a:t>
            </a:r>
            <a:endParaRPr lang="en-US" sz="4400" b="0" strike="noStrike" spc="-1">
              <a:solidFill>
                <a:srgbClr val="000000"/>
              </a:solidFill>
              <a:latin typeface="Calibri"/>
            </a:endParaRPr>
          </a:p>
        </p:txBody>
      </p:sp>
      <p:sp>
        <p:nvSpPr>
          <p:cNvPr id="119"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0E81F6B9-828F-409D-A385-B326FB89F39F}" type="slidenum">
              <a:rPr lang="en-US" sz="1200" b="0" strike="noStrike" spc="-1">
                <a:solidFill>
                  <a:srgbClr val="8B8B8B"/>
                </a:solidFill>
                <a:latin typeface="Calibri"/>
              </a:rPr>
              <a:t>19</a:t>
            </a:fld>
            <a:endParaRPr lang="en-US" sz="1200" b="0" strike="noStrike" spc="-1">
              <a:latin typeface="Times New Roman"/>
            </a:endParaRPr>
          </a:p>
        </p:txBody>
      </p:sp>
      <p:sp>
        <p:nvSpPr>
          <p:cNvPr id="120" name="CustomShape 3"/>
          <p:cNvSpPr/>
          <p:nvPr/>
        </p:nvSpPr>
        <p:spPr>
          <a:xfrm>
            <a:off x="838080" y="5032080"/>
            <a:ext cx="9755640" cy="9133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US" sz="1800" b="1" u="sng" strike="noStrike" spc="-1">
                <a:solidFill>
                  <a:srgbClr val="000000"/>
                </a:solidFill>
                <a:uFillTx/>
                <a:latin typeface="Times New Roman"/>
              </a:rPr>
              <a:t>Step9:</a:t>
            </a:r>
            <a:endParaRPr lang="en-US" sz="1800" b="0" strike="noStrike" spc="-1">
              <a:latin typeface="Arial"/>
            </a:endParaRPr>
          </a:p>
          <a:p>
            <a:pPr>
              <a:lnSpc>
                <a:spcPct val="100000"/>
              </a:lnSpc>
            </a:pPr>
            <a:r>
              <a:rPr lang="en-US" sz="1800" b="0" strike="noStrike" spc="-1">
                <a:solidFill>
                  <a:srgbClr val="000000"/>
                </a:solidFill>
                <a:latin typeface="Times New Roman"/>
              </a:rPr>
              <a:t> </a:t>
            </a:r>
            <a:endParaRPr lang="en-US" sz="1800" b="0" strike="noStrike" spc="-1">
              <a:latin typeface="Arial"/>
            </a:endParaRPr>
          </a:p>
          <a:p>
            <a:pPr>
              <a:lnSpc>
                <a:spcPct val="100000"/>
              </a:lnSpc>
            </a:pPr>
            <a:r>
              <a:rPr lang="en-US" sz="1800" b="0" strike="noStrike" spc="-1">
                <a:solidFill>
                  <a:srgbClr val="000000"/>
                </a:solidFill>
                <a:latin typeface="Times New Roman"/>
              </a:rPr>
              <a:t>And it will form a graph of the accuracy score</a:t>
            </a:r>
            <a:endParaRPr lang="en-US" sz="1800" b="0" strike="noStrike" spc="-1">
              <a:latin typeface="Arial"/>
            </a:endParaRPr>
          </a:p>
        </p:txBody>
      </p:sp>
      <p:pic>
        <p:nvPicPr>
          <p:cNvPr id="121" name="Picture 5"/>
          <p:cNvPicPr/>
          <p:nvPr/>
        </p:nvPicPr>
        <p:blipFill>
          <a:blip r:embed="rId2"/>
          <a:stretch/>
        </p:blipFill>
        <p:spPr>
          <a:xfrm>
            <a:off x="1798920" y="1450080"/>
            <a:ext cx="7834320" cy="3581640"/>
          </a:xfrm>
          <a:prstGeom prst="rect">
            <a:avLst/>
          </a:prstGeom>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1" strike="noStrike" spc="-1">
                <a:solidFill>
                  <a:srgbClr val="000000"/>
                </a:solidFill>
                <a:latin typeface="Times New Roman"/>
              </a:rPr>
              <a:t>Conclusion</a:t>
            </a:r>
            <a:endParaRPr lang="en-US" sz="4400" b="0" strike="noStrike" spc="-1">
              <a:solidFill>
                <a:srgbClr val="000000"/>
              </a:solidFill>
              <a:latin typeface="Calibri"/>
            </a:endParaRPr>
          </a:p>
        </p:txBody>
      </p:sp>
      <p:sp>
        <p:nvSpPr>
          <p:cNvPr id="123" name="TextShape 2"/>
          <p:cNvSpPr txBox="1"/>
          <p:nvPr/>
        </p:nvSpPr>
        <p:spPr>
          <a:xfrm>
            <a:off x="838080" y="1825560"/>
            <a:ext cx="10515240" cy="4350960"/>
          </a:xfrm>
          <a:prstGeom prst="rect">
            <a:avLst/>
          </a:prstGeom>
          <a:noFill/>
          <a:ln>
            <a:noFill/>
          </a:ln>
        </p:spPr>
        <p:txBody>
          <a:bodyPr>
            <a:normAutofit/>
          </a:bodyPr>
          <a:lstStyle/>
          <a:p>
            <a:pPr>
              <a:lnSpc>
                <a:spcPct val="90000"/>
              </a:lnSpc>
              <a:spcBef>
                <a:spcPts val="1001"/>
              </a:spcBef>
            </a:pPr>
            <a:r>
              <a:rPr lang="en-US" sz="2800" b="0" strike="noStrike" spc="-1">
                <a:solidFill>
                  <a:srgbClr val="000000"/>
                </a:solidFill>
                <a:latin typeface="Times New Roman"/>
                <a:ea typeface="Times New Roman"/>
              </a:rPr>
              <a:t>Our project aimed to tackle the problem of fake news by building a smart system that can tell if news is real or fake. We used fancy computer techniques to teach the system how to recognize clues that show whether a news story is true or not. After a lot of training and testing, the system got pretty good at it. This system can help people know which news to believe and stop false information from spreading. While the problem of fake news is complex, our project is a step towards making sure we can trust the news we read and share. We'll keep working to make it even better and to help everyone be smarter news consumers.</a:t>
            </a:r>
            <a:endParaRPr lang="en-US" sz="2800" b="0" strike="noStrike" spc="-1">
              <a:solidFill>
                <a:srgbClr val="000000"/>
              </a:solidFill>
              <a:latin typeface="Calibri"/>
            </a:endParaRPr>
          </a:p>
          <a:p>
            <a:pPr>
              <a:lnSpc>
                <a:spcPct val="90000"/>
              </a:lnSpc>
              <a:spcBef>
                <a:spcPts val="1001"/>
              </a:spcBef>
            </a:pPr>
            <a:endParaRPr lang="en-US" sz="2800" b="0" strike="noStrike" spc="-1">
              <a:solidFill>
                <a:srgbClr val="000000"/>
              </a:solidFill>
              <a:latin typeface="Calibri"/>
            </a:endParaRPr>
          </a:p>
        </p:txBody>
      </p:sp>
      <p:sp>
        <p:nvSpPr>
          <p:cNvPr id="124"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D9CDE5B8-CEFD-4E11-8AE6-F73B048E1A8B}" type="slidenum">
              <a:rPr lang="en-US" sz="1200" b="0" strike="noStrike" spc="-1">
                <a:solidFill>
                  <a:srgbClr val="8B8B8B"/>
                </a:solidFill>
                <a:latin typeface="Calibri"/>
              </a:rPr>
              <a:t>20</a:t>
            </a:fld>
            <a:endParaRPr lang="en-US" sz="1200" b="0" strike="noStrike" spc="-1">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Future Scope</a:t>
            </a:r>
            <a:endParaRPr lang="en-US" sz="4400" b="0" strike="noStrike" spc="-1">
              <a:solidFill>
                <a:srgbClr val="000000"/>
              </a:solidFill>
              <a:latin typeface="Calibri"/>
            </a:endParaRPr>
          </a:p>
        </p:txBody>
      </p:sp>
      <p:sp>
        <p:nvSpPr>
          <p:cNvPr id="126" name="TextShape 2"/>
          <p:cNvSpPr txBox="1"/>
          <p:nvPr/>
        </p:nvSpPr>
        <p:spPr>
          <a:xfrm>
            <a:off x="838080" y="1825560"/>
            <a:ext cx="10515240" cy="4350960"/>
          </a:xfrm>
          <a:prstGeom prst="rect">
            <a:avLst/>
          </a:prstGeom>
          <a:noFill/>
          <a:ln>
            <a:noFill/>
          </a:ln>
        </p:spPr>
        <p:txBody>
          <a:bodyPr>
            <a:normAutofit/>
          </a:bodyPr>
          <a:lstStyle/>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In the future, a web-based GUI can be created for the proposed fake news detection system to classify the news as fake or real on real-time social media platforms such as Facebook, Instagram, Twitter, WhatsApp, etc. Also, the annotated dataset in the sequence of images (with textual content written on them) will be collected and maintained from Facebook and Reddit platforms. The annotated dataset is often used for detecting fake images within the future as no such dataset is out there at the present. </a:t>
            </a:r>
          </a:p>
          <a:p>
            <a:pPr marL="228600" indent="-228240">
              <a:lnSpc>
                <a:spcPct val="90000"/>
              </a:lnSpc>
              <a:spcBef>
                <a:spcPts val="1001"/>
              </a:spcBef>
              <a:buClr>
                <a:srgbClr val="000000"/>
              </a:buClr>
              <a:buFont typeface="Arial"/>
              <a:buChar char="•"/>
            </a:pPr>
            <a:r>
              <a:rPr lang="en-US" sz="2400" b="0" strike="noStrike" spc="-1">
                <a:solidFill>
                  <a:srgbClr val="000000"/>
                </a:solidFill>
                <a:latin typeface="Calibri"/>
              </a:rPr>
              <a:t>The proposed system has the potential to provide an impulse to various emerging applications such as controlling the spread of fake news during elections, terrorism, natural calamities, crimes for the betterment of society. In the future, the efficiency and accuracy of the prototype can be enhanced to a certain level, and also enhance the user interface of the proposed model.</a:t>
            </a:r>
          </a:p>
        </p:txBody>
      </p:sp>
      <p:sp>
        <p:nvSpPr>
          <p:cNvPr id="127" name="TextShape 3"/>
          <p:cNvSpPr txBox="1"/>
          <p:nvPr/>
        </p:nvSpPr>
        <p:spPr>
          <a:xfrm>
            <a:off x="8610480" y="6356520"/>
            <a:ext cx="2742840" cy="364680"/>
          </a:xfrm>
          <a:prstGeom prst="rect">
            <a:avLst/>
          </a:prstGeom>
          <a:noFill/>
          <a:ln>
            <a:noFill/>
          </a:ln>
        </p:spPr>
        <p:txBody>
          <a:bodyPr anchor="ctr">
            <a:noAutofit/>
          </a:bodyPr>
          <a:lstStyle/>
          <a:p>
            <a:pPr algn="r">
              <a:lnSpc>
                <a:spcPct val="100000"/>
              </a:lnSpc>
            </a:pPr>
            <a:fld id="{F04B58FA-B6DA-4CFE-BAF4-331A541F15F2}" type="slidenum">
              <a:rPr lang="en-US" sz="1200" b="0" strike="noStrike" spc="-1">
                <a:solidFill>
                  <a:srgbClr val="8B8B8B"/>
                </a:solidFill>
                <a:latin typeface="Calibri"/>
              </a:rPr>
              <a:t>21</a:t>
            </a:fld>
            <a:endParaRPr lang="en-US" sz="1200" b="0" strike="noStrike" spc="-1">
              <a:latin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References</a:t>
            </a:r>
            <a:endParaRPr lang="en-US" sz="4400" b="0" strike="noStrike" spc="-1">
              <a:solidFill>
                <a:srgbClr val="000000"/>
              </a:solidFill>
              <a:latin typeface="Calibri"/>
            </a:endParaRPr>
          </a:p>
        </p:txBody>
      </p:sp>
      <p:sp>
        <p:nvSpPr>
          <p:cNvPr id="129"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DC88CA97-1118-424A-900C-C207DA2EE7C5}" type="slidenum">
              <a:rPr lang="en-US" sz="1200" b="0" strike="noStrike" spc="-1">
                <a:solidFill>
                  <a:srgbClr val="8B8B8B"/>
                </a:solidFill>
                <a:latin typeface="Calibri"/>
              </a:rPr>
              <a:t>22</a:t>
            </a:fld>
            <a:endParaRPr lang="en-US" sz="1200" b="0" strike="noStrike" spc="-1">
              <a:latin typeface="Times New Roman"/>
            </a:endParaRPr>
          </a:p>
        </p:txBody>
      </p:sp>
      <p:sp>
        <p:nvSpPr>
          <p:cNvPr id="130" name="CustomShape 3"/>
          <p:cNvSpPr/>
          <p:nvPr/>
        </p:nvSpPr>
        <p:spPr>
          <a:xfrm>
            <a:off x="838080" y="1690560"/>
            <a:ext cx="10674000" cy="47142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00000"/>
              </a:lnSpc>
            </a:pPr>
            <a:r>
              <a:rPr lang="en-US" sz="1600" b="0" strike="noStrike" spc="-1">
                <a:solidFill>
                  <a:srgbClr val="000000"/>
                </a:solidFill>
                <a:latin typeface="Times New Roman"/>
                <a:ea typeface="SimSun"/>
              </a:rPr>
              <a:t>[1] Aral, S., Roy, D., and Vosoughi, S. (2018). internet dissemination of both factual and fake news. 359(6380), 1146–1151 in science.</a:t>
            </a:r>
            <a:endParaRPr lang="en-US" sz="1600" b="0" strike="noStrike" spc="-1">
              <a:latin typeface="Arial"/>
            </a:endParaRPr>
          </a:p>
          <a:p>
            <a:pPr algn="just">
              <a:lnSpc>
                <a:spcPct val="100000"/>
              </a:lnSpc>
            </a:pPr>
            <a:r>
              <a:rPr lang="en-US" sz="1600" b="0" strike="noStrike" spc="-1">
                <a:solidFill>
                  <a:srgbClr val="000000"/>
                </a:solidFill>
                <a:latin typeface="Times New Roman"/>
                <a:ea typeface="SimSun"/>
              </a:rPr>
              <a:t> </a:t>
            </a:r>
            <a:endParaRPr lang="en-US" sz="1600" b="0" strike="noStrike" spc="-1">
              <a:latin typeface="Arial"/>
            </a:endParaRPr>
          </a:p>
          <a:p>
            <a:pPr algn="just">
              <a:lnSpc>
                <a:spcPct val="100000"/>
              </a:lnSpc>
            </a:pPr>
            <a:endParaRPr lang="en-US" sz="1600" b="0" strike="noStrike" spc="-1">
              <a:latin typeface="Arial"/>
            </a:endParaRPr>
          </a:p>
          <a:p>
            <a:pPr algn="just">
              <a:lnSpc>
                <a:spcPct val="100000"/>
              </a:lnSpc>
            </a:pPr>
            <a:r>
              <a:rPr lang="en-US" sz="1600" b="0" strike="noStrike" spc="-1">
                <a:solidFill>
                  <a:srgbClr val="000000"/>
                </a:solidFill>
                <a:latin typeface="Times New Roman"/>
                <a:ea typeface="SimSun"/>
              </a:rPr>
              <a:t>[2] Wang, S., Lee, D., Shu, K., Mahudeswaran, D., &amp; Liu, H. (2017). Social media fake news identification from a data mining standpoint. Newsletter for ACM SIGKDD Explorations, 19(1), 22–36.</a:t>
            </a:r>
            <a:endParaRPr lang="en-US" sz="1600" b="0" strike="noStrike" spc="-1">
              <a:latin typeface="Arial"/>
            </a:endParaRPr>
          </a:p>
          <a:p>
            <a:pPr algn="just">
              <a:lnSpc>
                <a:spcPct val="100000"/>
              </a:lnSpc>
            </a:pPr>
            <a:r>
              <a:rPr lang="en-US" sz="1600" b="0" strike="noStrike" spc="-1">
                <a:solidFill>
                  <a:srgbClr val="000000"/>
                </a:solidFill>
                <a:latin typeface="Times New Roman"/>
                <a:ea typeface="SimSun"/>
              </a:rPr>
              <a:t> </a:t>
            </a:r>
            <a:endParaRPr lang="en-US" sz="1600" b="0" strike="noStrike" spc="-1">
              <a:latin typeface="Arial"/>
            </a:endParaRPr>
          </a:p>
          <a:p>
            <a:pPr algn="just">
              <a:lnSpc>
                <a:spcPct val="100000"/>
              </a:lnSpc>
            </a:pPr>
            <a:endParaRPr lang="en-US" sz="1600" b="0" strike="noStrike" spc="-1">
              <a:latin typeface="Arial"/>
            </a:endParaRPr>
          </a:p>
          <a:p>
            <a:pPr algn="just">
              <a:lnSpc>
                <a:spcPct val="100000"/>
              </a:lnSpc>
            </a:pPr>
            <a:r>
              <a:rPr lang="en-US" sz="1600" b="0" strike="noStrike" spc="-1">
                <a:solidFill>
                  <a:srgbClr val="000000"/>
                </a:solidFill>
                <a:latin typeface="Times New Roman"/>
                <a:ea typeface="SimSun"/>
              </a:rPr>
              <a:t>[3] Friggeri, Adamic, Eckles, &amp; Kleinberg, J. M. (2014). Friggeri, A., Adamic, L. A. A rumour spreads. Eighth International Conference on Weblogs and Social Media Proceedings, 101–110.</a:t>
            </a:r>
            <a:endParaRPr lang="en-US" sz="1600" b="0" strike="noStrike" spc="-1">
              <a:latin typeface="Arial"/>
            </a:endParaRPr>
          </a:p>
          <a:p>
            <a:pPr algn="just">
              <a:lnSpc>
                <a:spcPct val="100000"/>
              </a:lnSpc>
            </a:pPr>
            <a:r>
              <a:rPr lang="en-US" sz="1600" b="0" strike="noStrike" spc="-1">
                <a:solidFill>
                  <a:srgbClr val="000000"/>
                </a:solidFill>
                <a:latin typeface="Times New Roman"/>
                <a:ea typeface="SimSun"/>
              </a:rPr>
              <a:t> </a:t>
            </a:r>
            <a:endParaRPr lang="en-US" sz="1600" b="0" strike="noStrike" spc="-1">
              <a:latin typeface="Arial"/>
            </a:endParaRPr>
          </a:p>
          <a:p>
            <a:pPr algn="just">
              <a:lnSpc>
                <a:spcPct val="100000"/>
              </a:lnSpc>
            </a:pPr>
            <a:endParaRPr lang="en-US" sz="1600" b="0" strike="noStrike" spc="-1">
              <a:latin typeface="Arial"/>
            </a:endParaRPr>
          </a:p>
          <a:p>
            <a:pPr algn="just">
              <a:lnSpc>
                <a:spcPct val="100000"/>
              </a:lnSpc>
            </a:pPr>
            <a:r>
              <a:rPr lang="en-US" sz="1600" b="0" strike="noStrike" spc="-1">
                <a:solidFill>
                  <a:srgbClr val="000000"/>
                </a:solidFill>
                <a:latin typeface="Times New Roman"/>
                <a:ea typeface="SimSun"/>
              </a:rPr>
              <a:t>[4] Mihalcea, R., Lefevre, A., Kleinberg, B., &amp; Pérez-Rosas, V. (2018). Fake news identification done automatically. 27</a:t>
            </a:r>
            <a:r>
              <a:rPr lang="en-US" sz="1600" b="0" strike="noStrike" spc="-1" baseline="30000">
                <a:solidFill>
                  <a:srgbClr val="000000"/>
                </a:solidFill>
                <a:latin typeface="Times New Roman"/>
                <a:ea typeface="SimSun"/>
              </a:rPr>
              <a:t>th</a:t>
            </a:r>
            <a:r>
              <a:rPr lang="en-US" sz="1600" b="0" strike="noStrike" spc="-1">
                <a:solidFill>
                  <a:srgbClr val="000000"/>
                </a:solidFill>
                <a:latin typeface="Times New Roman"/>
                <a:ea typeface="SimSun"/>
              </a:rPr>
              <a:t> International Conference on Computational Linguistics: Proceedings, 3391-3401.</a:t>
            </a:r>
            <a:endParaRPr lang="en-US" sz="1600" b="0" strike="noStrike" spc="-1">
              <a:latin typeface="Arial"/>
            </a:endParaRPr>
          </a:p>
          <a:p>
            <a:pPr algn="just">
              <a:lnSpc>
                <a:spcPct val="100000"/>
              </a:lnSpc>
            </a:pPr>
            <a:r>
              <a:rPr lang="en-US" sz="1600" b="0" strike="noStrike" spc="-1">
                <a:solidFill>
                  <a:srgbClr val="000000"/>
                </a:solidFill>
                <a:latin typeface="Times New Roman"/>
                <a:ea typeface="SimSun"/>
              </a:rPr>
              <a:t> </a:t>
            </a:r>
            <a:endParaRPr lang="en-US" sz="1600" b="0" strike="noStrike" spc="-1">
              <a:latin typeface="Arial"/>
            </a:endParaRPr>
          </a:p>
          <a:p>
            <a:pPr algn="just">
              <a:lnSpc>
                <a:spcPct val="100000"/>
              </a:lnSpc>
            </a:pPr>
            <a:endParaRPr lang="en-US" sz="1600" b="0" strike="noStrike" spc="-1">
              <a:latin typeface="Arial"/>
            </a:endParaRPr>
          </a:p>
          <a:p>
            <a:pPr algn="just">
              <a:lnSpc>
                <a:spcPct val="100000"/>
              </a:lnSpc>
            </a:pPr>
            <a:r>
              <a:rPr lang="en-US" sz="1600" b="0" strike="noStrike" spc="-1">
                <a:solidFill>
                  <a:srgbClr val="000000"/>
                </a:solidFill>
                <a:latin typeface="Times New Roman"/>
                <a:ea typeface="SimSun"/>
              </a:rPr>
              <a:t>[5] Lui, M. T., Zhao, L., and Wang, W. Y. (2020). transformer combined with multi-modal fusion for the identification of bogus news. preprint arXiv:2006.11138, arXiv.</a:t>
            </a:r>
            <a:endParaRPr lang="en-US" sz="1600" b="0" strike="noStrike" spc="-1">
              <a:latin typeface="Arial"/>
            </a:endParaRPr>
          </a:p>
          <a:p>
            <a:pPr algn="just">
              <a:lnSpc>
                <a:spcPct val="100000"/>
              </a:lnSpc>
            </a:pPr>
            <a:r>
              <a:rPr lang="en-US" sz="1600" b="0" strike="noStrike" spc="-1">
                <a:solidFill>
                  <a:srgbClr val="000000"/>
                </a:solidFill>
                <a:latin typeface="Times New Roman"/>
                <a:ea typeface="SimSun"/>
              </a:rPr>
              <a:t> </a:t>
            </a:r>
            <a:endParaRPr lang="en-US" sz="1600" b="0" strike="noStrike" spc="-1">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TextShape 1"/>
          <p:cNvSpPr txBox="1"/>
          <p:nvPr/>
        </p:nvSpPr>
        <p:spPr>
          <a:xfrm>
            <a:off x="838080" y="365040"/>
            <a:ext cx="10515240" cy="1325160"/>
          </a:xfrm>
          <a:prstGeom prst="rect">
            <a:avLst/>
          </a:prstGeom>
          <a:noFill/>
          <a:ln>
            <a:noFill/>
          </a:ln>
        </p:spPr>
        <p:txBody>
          <a:bodyPr anchor="ctr">
            <a:noAutofit/>
          </a:bodyPr>
          <a:lstStyle/>
          <a:p>
            <a:pPr>
              <a:lnSpc>
                <a:spcPct val="90000"/>
              </a:lnSpc>
            </a:pPr>
            <a:r>
              <a:rPr lang="en-US" sz="4400" b="0" strike="noStrike" spc="-1">
                <a:solidFill>
                  <a:srgbClr val="000000"/>
                </a:solidFill>
                <a:latin typeface="Calibri Light"/>
              </a:rPr>
              <a:t>References</a:t>
            </a:r>
            <a:endParaRPr lang="en-US" sz="4400" b="0" strike="noStrike" spc="-1">
              <a:solidFill>
                <a:srgbClr val="000000"/>
              </a:solidFill>
              <a:latin typeface="Calibri"/>
            </a:endParaRPr>
          </a:p>
        </p:txBody>
      </p:sp>
      <p:sp>
        <p:nvSpPr>
          <p:cNvPr id="132"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E30AA619-6422-4890-979C-7E18AB848B94}" type="slidenum">
              <a:rPr lang="en-US" sz="1200" b="0" strike="noStrike" spc="-1">
                <a:solidFill>
                  <a:srgbClr val="8B8B8B"/>
                </a:solidFill>
                <a:latin typeface="Calibri"/>
              </a:rPr>
              <a:t>23</a:t>
            </a:fld>
            <a:endParaRPr lang="en-US" sz="1200" b="0" strike="noStrike" spc="-1">
              <a:latin typeface="Times New Roman"/>
            </a:endParaRPr>
          </a:p>
        </p:txBody>
      </p:sp>
      <p:sp>
        <p:nvSpPr>
          <p:cNvPr id="133" name="CustomShape 3"/>
          <p:cNvSpPr/>
          <p:nvPr/>
        </p:nvSpPr>
        <p:spPr>
          <a:xfrm>
            <a:off x="838080" y="1690560"/>
            <a:ext cx="10674000" cy="27421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just">
              <a:lnSpc>
                <a:spcPct val="100000"/>
              </a:lnSpc>
            </a:pPr>
            <a:endParaRPr lang="en-US" sz="1800" b="0" strike="noStrike" spc="-1">
              <a:latin typeface="Arial"/>
            </a:endParaRPr>
          </a:p>
          <a:p>
            <a:pPr marL="118800" algn="just">
              <a:lnSpc>
                <a:spcPct val="115000"/>
              </a:lnSpc>
            </a:pPr>
            <a:r>
              <a:rPr lang="en-US" sz="1600" b="0" strike="noStrike" spc="-1">
                <a:solidFill>
                  <a:srgbClr val="000000"/>
                </a:solidFill>
                <a:latin typeface="Times New Roman"/>
                <a:ea typeface="Times New Roman"/>
              </a:rPr>
              <a:t>[6] Potthast, M., Stede, M., Schubotz, M., Kiesel, J., Reinartz, K., Bevendorff, J., &amp; Gurevych, I. (2018). A Stylometric Investigation into Fake News and Hyperpartisanship. preprint arXiv:1801.07741; arXiv</a:t>
            </a:r>
            <a:endParaRPr lang="en-US" sz="1600" b="0" strike="noStrike" spc="-1">
              <a:latin typeface="Arial"/>
            </a:endParaRPr>
          </a:p>
          <a:p>
            <a:pPr marL="118800" algn="just">
              <a:lnSpc>
                <a:spcPct val="115000"/>
              </a:lnSpc>
            </a:pPr>
            <a:r>
              <a:rPr lang="en-US" sz="1600" b="0" strike="noStrike" spc="-1">
                <a:solidFill>
                  <a:srgbClr val="000000"/>
                </a:solidFill>
                <a:latin typeface="Times New Roman"/>
                <a:ea typeface="Times New Roman"/>
              </a:rPr>
              <a:t> </a:t>
            </a:r>
            <a:endParaRPr lang="en-US" sz="1600" b="0" strike="noStrike" spc="-1">
              <a:latin typeface="Arial"/>
            </a:endParaRPr>
          </a:p>
          <a:p>
            <a:pPr marL="118800" algn="just">
              <a:lnSpc>
                <a:spcPct val="115000"/>
              </a:lnSpc>
            </a:pPr>
            <a:r>
              <a:rPr lang="en-US" sz="1600" b="0" strike="noStrike" spc="-1">
                <a:solidFill>
                  <a:srgbClr val="000000"/>
                </a:solidFill>
                <a:latin typeface="Times New Roman"/>
                <a:ea typeface="Times New Roman"/>
              </a:rPr>
              <a:t>[7] Liu, Y., Ruchansky, N., and Seo, S. (2017). "Csi: Cyberbullying": Tracking down instances of cyberbullying on the social media platform Instagram. The 2017 ACM Conference on Web Science: Proceedings, 13–22.</a:t>
            </a:r>
            <a:endParaRPr lang="en-US" sz="1600" b="0" strike="noStrike" spc="-1">
              <a:latin typeface="Arial"/>
            </a:endParaRPr>
          </a:p>
          <a:p>
            <a:pPr marL="118800" algn="just">
              <a:lnSpc>
                <a:spcPct val="115000"/>
              </a:lnSpc>
            </a:pPr>
            <a:endParaRPr lang="en-US" sz="1600" b="0" strike="noStrike" spc="-1">
              <a:latin typeface="Arial"/>
            </a:endParaRPr>
          </a:p>
          <a:p>
            <a:pPr algn="just">
              <a:lnSpc>
                <a:spcPct val="100000"/>
              </a:lnSpc>
            </a:pPr>
            <a:r>
              <a:rPr lang="en-US" sz="1600" b="0" strike="noStrike" spc="-1">
                <a:solidFill>
                  <a:srgbClr val="000000"/>
                </a:solidFill>
                <a:latin typeface="Times New Roman"/>
                <a:ea typeface="Times New Roman"/>
              </a:rPr>
              <a:t>   [8] Roy, D., Vosoughi, S., and Aral, S. (2018). spread of news, both accurate and fraudulent, online. Science, 359(6380),     1146–1151.</a:t>
            </a:r>
            <a:endParaRPr lang="en-US" sz="1600" b="0" strike="noStrike" spc="-1">
              <a:latin typeface="Arial"/>
            </a:endParaRPr>
          </a:p>
          <a:p>
            <a:pPr algn="just">
              <a:lnSpc>
                <a:spcPct val="100000"/>
              </a:lnSpc>
            </a:pPr>
            <a:endParaRPr lang="en-US" sz="1600" b="0" strike="noStrike" spc="-1">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Shape 1"/>
          <p:cNvSpPr txBox="1"/>
          <p:nvPr/>
        </p:nvSpPr>
        <p:spPr>
          <a:xfrm>
            <a:off x="2880360" y="2370240"/>
            <a:ext cx="10515240" cy="4350960"/>
          </a:xfrm>
          <a:prstGeom prst="rect">
            <a:avLst/>
          </a:prstGeom>
          <a:noFill/>
          <a:ln>
            <a:noFill/>
          </a:ln>
        </p:spPr>
        <p:txBody>
          <a:bodyPr>
            <a:normAutofit/>
          </a:bodyPr>
          <a:lstStyle/>
          <a:p>
            <a:pPr>
              <a:lnSpc>
                <a:spcPct val="90000"/>
              </a:lnSpc>
              <a:spcBef>
                <a:spcPts val="1001"/>
              </a:spcBef>
            </a:pPr>
            <a:r>
              <a:rPr lang="en-US" sz="8800" b="0" strike="noStrike" spc="-1">
                <a:solidFill>
                  <a:srgbClr val="000000"/>
                </a:solidFill>
                <a:latin typeface="Arial Rounded MT Bold"/>
              </a:rPr>
              <a:t>Thank You </a:t>
            </a:r>
            <a:r>
              <a:rPr lang="en-US" sz="8800" b="0" strike="noStrike" spc="-1">
                <a:solidFill>
                  <a:srgbClr val="000000"/>
                </a:solidFill>
                <a:latin typeface="Wingdings"/>
              </a:rPr>
              <a:t></a:t>
            </a:r>
            <a:endParaRPr lang="en-US" sz="8800" b="0" strike="noStrike" spc="-1">
              <a:solidFill>
                <a:srgbClr val="000000"/>
              </a:solidFill>
              <a:latin typeface="Calibri"/>
            </a:endParaRPr>
          </a:p>
        </p:txBody>
      </p:sp>
      <p:sp>
        <p:nvSpPr>
          <p:cNvPr id="135" name="TextShape 2"/>
          <p:cNvSpPr txBox="1"/>
          <p:nvPr/>
        </p:nvSpPr>
        <p:spPr>
          <a:xfrm>
            <a:off x="8610480" y="6356520"/>
            <a:ext cx="2742840" cy="364680"/>
          </a:xfrm>
          <a:prstGeom prst="rect">
            <a:avLst/>
          </a:prstGeom>
          <a:noFill/>
          <a:ln>
            <a:noFill/>
          </a:ln>
        </p:spPr>
        <p:txBody>
          <a:bodyPr anchor="ctr">
            <a:noAutofit/>
          </a:bodyPr>
          <a:lstStyle/>
          <a:p>
            <a:pPr algn="r">
              <a:lnSpc>
                <a:spcPct val="100000"/>
              </a:lnSpc>
            </a:pPr>
            <a:fld id="{4713190A-139A-4228-B12A-9AB0BFAC8017}" type="slidenum">
              <a:rPr lang="en-US" sz="1200" b="0" strike="noStrike" spc="-1">
                <a:solidFill>
                  <a:srgbClr val="8B8B8B"/>
                </a:solidFill>
                <a:latin typeface="Calibri"/>
              </a:rPr>
              <a:t>24</a:t>
            </a:fld>
            <a:endParaRPr lang="en-US" sz="1200" b="0" strike="noStrike" spc="-1">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smaple</Template>
  <TotalTime>6300</TotalTime>
  <Words>1432</Words>
  <Application>Microsoft Office PowerPoint</Application>
  <PresentationFormat>Widescreen</PresentationFormat>
  <Paragraphs>139</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Arial Rounded MT Bold</vt:lpstr>
      <vt:lpstr>Calibri</vt:lpstr>
      <vt:lpstr>Calibri Light</vt:lpstr>
      <vt:lpstr>Casper</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Branding</dc:creator>
  <dc:description/>
  <cp:lastModifiedBy>Nikhil Saini</cp:lastModifiedBy>
  <cp:revision>500</cp:revision>
  <dcterms:created xsi:type="dcterms:W3CDTF">2019-01-09T10:33:58Z</dcterms:created>
  <dcterms:modified xsi:type="dcterms:W3CDTF">2025-11-17T18:07:46Z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24</vt:i4>
  </property>
</Properties>
</file>